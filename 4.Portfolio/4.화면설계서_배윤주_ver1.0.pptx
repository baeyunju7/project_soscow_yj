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8" r:id="rId2"/>
    <p:sldId id="261" r:id="rId3"/>
    <p:sldId id="262" r:id="rId4"/>
    <p:sldId id="273" r:id="rId5"/>
    <p:sldId id="287" r:id="rId6"/>
    <p:sldId id="289" r:id="rId7"/>
    <p:sldId id="290" r:id="rId8"/>
    <p:sldId id="291" r:id="rId9"/>
    <p:sldId id="292" r:id="rId10"/>
    <p:sldId id="293" r:id="rId11"/>
    <p:sldId id="294" r:id="rId12"/>
    <p:sldId id="296" r:id="rId13"/>
    <p:sldId id="295" r:id="rId14"/>
    <p:sldId id="297" r:id="rId15"/>
    <p:sldId id="298" r:id="rId16"/>
    <p:sldId id="300" r:id="rId17"/>
    <p:sldId id="301" r:id="rId18"/>
    <p:sldId id="303" r:id="rId19"/>
    <p:sldId id="299" r:id="rId20"/>
    <p:sldId id="304" r:id="rId21"/>
    <p:sldId id="272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9FA"/>
    <a:srgbClr val="198754"/>
    <a:srgbClr val="1508B8"/>
    <a:srgbClr val="D6DC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99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7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C72EF-6BB7-4781-AB0E-7F80D4086E15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D12FD1-C071-45F0-8601-B201F14F5D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096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16B599-F66E-4A14-B6B1-B3233495D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EF72A8E-30F1-4FA0-A1D1-12C03D2F6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B3AB23-8F18-49D6-9C5D-8D000AC7A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211E-DF88-4493-8C14-81D37257BC7A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7972FF-DF2B-42A0-832A-2D1159CD0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7472E5-1346-4561-9D7E-365A6403F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294-99D9-46D6-9775-0917A54181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84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5A6DEF-E0A8-4C31-A65E-BF1EBBAC2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0729DA-8A92-41E0-BAF7-61B5DD19F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EB3123-19A5-4ED6-803A-6FB48B8EE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211E-DF88-4493-8C14-81D37257BC7A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4C86DC-94B6-4D6B-A924-44A10F3DD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16838A-DA56-4D7B-9B29-9AB078D2E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294-99D9-46D6-9775-0917A54181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69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5CA611-A38F-4110-9C75-8BFCC61B1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A30645-2202-453E-98EE-4FB226111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55946F-F263-40E1-9AA6-D37E84954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211E-DF88-4493-8C14-81D37257BC7A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D30B09-289F-4450-94F6-E985A0B76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F87606-4350-4CE5-9E08-F39D54936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294-99D9-46D6-9775-0917A54181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7035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642724-5BBF-4283-BDD8-EB1176DDE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11A617-C7BB-43EE-8818-8D51116C82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FA0F760-4085-4476-9386-22AF72803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36FE91-7F7D-4F9D-8AC9-F22ABA11D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211E-DF88-4493-8C14-81D37257BC7A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A3E233-54A9-4477-B87D-1E5ACE032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36E387-59BA-427B-B35C-E5BF62F30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294-99D9-46D6-9775-0917A54181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774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BFCB92-0E5E-4F31-BDC6-BD30CC2A1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8D3263-8387-417E-9D7A-B555A3948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53FBF8-DD99-4747-BCC1-F0F2B18F2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BFC4ADA-D2C4-4994-82C5-FB2C7B2B98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6EFB89B-35C7-44CC-8581-38DD86397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78F013D-3806-479F-A5E1-AAF7FFBA3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211E-DF88-4493-8C14-81D37257BC7A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091213A-36CB-4EE0-AAB0-4913B0120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F9815CB-8B02-46B2-90B9-FF0F48C99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294-99D9-46D6-9775-0917A54181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347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9514AB-D4FB-4E31-A728-369559411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78F4176-1398-4B73-82CD-BDB2661EA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211E-DF88-4493-8C14-81D37257BC7A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2051377-CFC8-4E3C-877E-0B27C2926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2EA402B-E8C0-4238-B6D0-34A3863B2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294-99D9-46D6-9775-0917A54181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66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B4BC6FB-C067-4525-AF5E-4DD89C184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211E-DF88-4493-8C14-81D37257BC7A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C81A9D9-D72B-4C4A-9AF1-87EB53A8A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55F6D3-AE71-4C90-BEE3-F422816F3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294-99D9-46D6-9775-0917A54181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113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504ED0-E1BA-4E65-B536-5FCFEE56D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20F818-AB92-4F7F-981B-6B9594935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086242-6BA7-484D-B09C-BAB693AFA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6AAEDA-EAD6-47F9-857F-4F73CBC0D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211E-DF88-4493-8C14-81D37257BC7A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367942-8EBE-419D-AD54-3ADD4160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80C2A9-8F90-4ECB-8654-9DD156209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294-99D9-46D6-9775-0917A54181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973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66EAE6-4F12-474A-85C5-089A484E2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979E8B7-0D78-40FF-B85C-95A23897E0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E11300-A8BE-469B-B675-815D95840D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F1D9A6-3D6F-41C0-B883-528F61D0A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211E-DF88-4493-8C14-81D37257BC7A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DFF938-FCC3-4C68-94D3-674A90908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E444A9-58D8-4BFA-83D2-35F03F11F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294-99D9-46D6-9775-0917A54181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908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E853B7-FAD5-4081-9FDC-DFE4496B4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00D2C2-8B99-4DBF-90ED-1B7AEB036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ECC535-2ACD-4860-825B-768EBDBE3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211E-DF88-4493-8C14-81D37257BC7A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B04647-3891-456D-B447-58454FB57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843640-3487-4CDC-B10A-C5F0FCBBA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294-99D9-46D6-9775-0917A54181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960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0770CC1-F33E-4EA0-9693-18F4EE88EE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58BAF9D-FDFB-4BCD-BD90-D0A75BC5E8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F774CF-B764-470C-BB62-4B7075BB7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3211E-DF88-4493-8C14-81D37257BC7A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076567-F094-4481-AA19-3E96E6BA5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0B6F25-6457-4C78-B083-F600E9FC3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294-99D9-46D6-9775-0917A54181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5222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9AC650A-2073-459D-9BD6-6692A2DA5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B2DA89-1E55-4A6E-8732-228BA9284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348D08-5F93-4C24-9906-660EA19D2D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F3211E-DF88-4493-8C14-81D37257BC7A}" type="datetimeFigureOut">
              <a:rPr lang="ko-KR" altLang="en-US" smtClean="0"/>
              <a:t>2025-06-16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2D4B92-B596-4C02-943E-9B6C90B43B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93B4FC-462D-43EB-90C8-87B08A632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3A294-99D9-46D6-9775-0917A54181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905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4.png"/><Relationship Id="rId7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4.png"/><Relationship Id="rId7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4.png"/><Relationship Id="rId7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5.png"/><Relationship Id="rId7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7.png"/><Relationship Id="rId7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8.png"/><Relationship Id="rId9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6.png"/><Relationship Id="rId7" Type="http://schemas.openxmlformats.org/officeDocument/2006/relationships/image" Target="../media/image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36.png"/><Relationship Id="rId7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3DBA294-2F07-4082-9EB7-84D473E976A0}"/>
              </a:ext>
            </a:extLst>
          </p:cNvPr>
          <p:cNvSpPr/>
          <p:nvPr/>
        </p:nvSpPr>
        <p:spPr>
          <a:xfrm>
            <a:off x="-20" y="0"/>
            <a:ext cx="12192000" cy="669073"/>
          </a:xfrm>
          <a:prstGeom prst="rect">
            <a:avLst/>
          </a:prstGeom>
          <a:solidFill>
            <a:srgbClr val="19875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198754"/>
              </a:solidFill>
              <a:effectLst/>
              <a:uLnTx/>
              <a:uFillTx/>
              <a:latin typeface="Microsoft GothicNeo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01CA47-7258-4970-B184-72D6DEB70281}"/>
              </a:ext>
            </a:extLst>
          </p:cNvPr>
          <p:cNvSpPr txBox="1"/>
          <p:nvPr/>
        </p:nvSpPr>
        <p:spPr>
          <a:xfrm>
            <a:off x="1341003" y="2160831"/>
            <a:ext cx="914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가축 전염병 전파 예측 서비스</a:t>
            </a:r>
            <a:endParaRPr kumimoji="0" lang="ko-KR" altLang="en-US" sz="4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GothicNe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8C6B10-05C5-472F-82B2-170A08C1AFAB}"/>
              </a:ext>
            </a:extLst>
          </p:cNvPr>
          <p:cNvSpPr txBox="1"/>
          <p:nvPr/>
        </p:nvSpPr>
        <p:spPr>
          <a:xfrm>
            <a:off x="10362923" y="5300813"/>
            <a:ext cx="19642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rPr>
              <a:t>버전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rPr>
              <a:t>: v1.0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rPr>
              <a:t>날짜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rPr>
              <a:t>: 2025.04.15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rPr>
              <a:t>작성자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rPr>
              <a:t>: 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rPr>
              <a:t>배윤주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026BE46-E9E7-4A77-9BD0-3E2627567B20}"/>
              </a:ext>
            </a:extLst>
          </p:cNvPr>
          <p:cNvSpPr/>
          <p:nvPr/>
        </p:nvSpPr>
        <p:spPr>
          <a:xfrm>
            <a:off x="-20" y="6196361"/>
            <a:ext cx="12192000" cy="669073"/>
          </a:xfrm>
          <a:prstGeom prst="rect">
            <a:avLst/>
          </a:prstGeom>
          <a:solidFill>
            <a:srgbClr val="19875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GothicNeo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8204EB-8504-4D85-972D-D53F359B0EF7}"/>
              </a:ext>
            </a:extLst>
          </p:cNvPr>
          <p:cNvSpPr txBox="1"/>
          <p:nvPr/>
        </p:nvSpPr>
        <p:spPr>
          <a:xfrm>
            <a:off x="4831367" y="3076092"/>
            <a:ext cx="21632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 dirty="0"/>
              <a:t>[</a:t>
            </a:r>
            <a:r>
              <a:rPr lang="en-US" altLang="ko-KR" sz="2200" dirty="0"/>
              <a:t> </a:t>
            </a:r>
            <a:r>
              <a:rPr lang="ko-KR" altLang="en-US" sz="2200" b="1" dirty="0"/>
              <a:t>화면설계서 </a:t>
            </a:r>
            <a:r>
              <a:rPr lang="en-US" altLang="ko-KR" sz="2200" b="1" dirty="0"/>
              <a:t>]</a:t>
            </a:r>
            <a:endParaRPr lang="ko-KR" alt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517648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3DBA294-2F07-4082-9EB7-84D473E976A0}"/>
              </a:ext>
            </a:extLst>
          </p:cNvPr>
          <p:cNvSpPr/>
          <p:nvPr/>
        </p:nvSpPr>
        <p:spPr>
          <a:xfrm>
            <a:off x="-20" y="0"/>
            <a:ext cx="12192000" cy="669073"/>
          </a:xfrm>
          <a:prstGeom prst="rect">
            <a:avLst/>
          </a:prstGeom>
          <a:solidFill>
            <a:srgbClr val="19875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GothicNeo"/>
              <a:ea typeface="+mn-ea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026BE46-E9E7-4A77-9BD0-3E2627567B20}"/>
              </a:ext>
            </a:extLst>
          </p:cNvPr>
          <p:cNvSpPr/>
          <p:nvPr/>
        </p:nvSpPr>
        <p:spPr>
          <a:xfrm>
            <a:off x="-20" y="6196361"/>
            <a:ext cx="12192000" cy="669073"/>
          </a:xfrm>
          <a:prstGeom prst="rect">
            <a:avLst/>
          </a:prstGeom>
          <a:solidFill>
            <a:srgbClr val="19875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GothicNeo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2AF072-BE3A-4B4C-A862-9A14CE1335C3}"/>
              </a:ext>
            </a:extLst>
          </p:cNvPr>
          <p:cNvSpPr txBox="1"/>
          <p:nvPr/>
        </p:nvSpPr>
        <p:spPr>
          <a:xfrm>
            <a:off x="5359604" y="1010442"/>
            <a:ext cx="147275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b="1" dirty="0"/>
              <a:t>HISTORY</a:t>
            </a:r>
            <a:endParaRPr lang="ko-KR" altLang="en-US" sz="2300" b="1" dirty="0"/>
          </a:p>
        </p:txBody>
      </p:sp>
      <p:graphicFrame>
        <p:nvGraphicFramePr>
          <p:cNvPr id="9" name="표 13">
            <a:extLst>
              <a:ext uri="{FF2B5EF4-FFF2-40B4-BE49-F238E27FC236}">
                <a16:creationId xmlns:a16="http://schemas.microsoft.com/office/drawing/2014/main" id="{1593CA62-F79C-409B-B29F-FE47DFC29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414660"/>
              </p:ext>
            </p:extLst>
          </p:nvPr>
        </p:nvGraphicFramePr>
        <p:xfrm>
          <a:off x="1691665" y="1798088"/>
          <a:ext cx="880862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817">
                  <a:extLst>
                    <a:ext uri="{9D8B030D-6E8A-4147-A177-3AD203B41FA5}">
                      <a16:colId xmlns:a16="http://schemas.microsoft.com/office/drawing/2014/main" val="4099845767"/>
                    </a:ext>
                  </a:extLst>
                </a:gridCol>
                <a:gridCol w="1561763">
                  <a:extLst>
                    <a:ext uri="{9D8B030D-6E8A-4147-A177-3AD203B41FA5}">
                      <a16:colId xmlns:a16="http://schemas.microsoft.com/office/drawing/2014/main" val="1413274187"/>
                    </a:ext>
                  </a:extLst>
                </a:gridCol>
                <a:gridCol w="5944049">
                  <a:extLst>
                    <a:ext uri="{9D8B030D-6E8A-4147-A177-3AD203B41FA5}">
                      <a16:colId xmlns:a16="http://schemas.microsoft.com/office/drawing/2014/main" val="36771969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VERSION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DETAIL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196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2025.02.17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ver0.1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UI ver.2</a:t>
                      </a:r>
                      <a:r>
                        <a:rPr lang="ko-KR" altLang="en-US" sz="1200" dirty="0"/>
                        <a:t>로 수정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122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2025.04.08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ver0.2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UI ver.3</a:t>
                      </a:r>
                      <a:r>
                        <a:rPr lang="ko-KR" altLang="en-US" sz="1200" dirty="0"/>
                        <a:t>으로 수정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529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2025.04.10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ver0.3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p.g3 </a:t>
                      </a:r>
                      <a:r>
                        <a:rPr lang="ko-KR" altLang="en-US" sz="1200" dirty="0"/>
                        <a:t>단어 수정 및 설명 추가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045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2025.04.15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ver1.0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검토 및 단어 수정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828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488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2690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733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528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667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5352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6">
            <a:extLst>
              <a:ext uri="{FF2B5EF4-FFF2-40B4-BE49-F238E27FC236}">
                <a16:creationId xmlns:a16="http://schemas.microsoft.com/office/drawing/2014/main" id="{67499F47-C54B-4852-94D6-83575F671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288364"/>
              </p:ext>
            </p:extLst>
          </p:nvPr>
        </p:nvGraphicFramePr>
        <p:xfrm>
          <a:off x="612969" y="117091"/>
          <a:ext cx="1139561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295">
                  <a:extLst>
                    <a:ext uri="{9D8B030D-6E8A-4147-A177-3AD203B41FA5}">
                      <a16:colId xmlns:a16="http://schemas.microsoft.com/office/drawing/2014/main" val="2232611455"/>
                    </a:ext>
                  </a:extLst>
                </a:gridCol>
                <a:gridCol w="3340004">
                  <a:extLst>
                    <a:ext uri="{9D8B030D-6E8A-4147-A177-3AD203B41FA5}">
                      <a16:colId xmlns:a16="http://schemas.microsoft.com/office/drawing/2014/main" val="4198319941"/>
                    </a:ext>
                  </a:extLst>
                </a:gridCol>
                <a:gridCol w="1880681">
                  <a:extLst>
                    <a:ext uri="{9D8B030D-6E8A-4147-A177-3AD203B41FA5}">
                      <a16:colId xmlns:a16="http://schemas.microsoft.com/office/drawing/2014/main" val="2530664953"/>
                    </a:ext>
                  </a:extLst>
                </a:gridCol>
                <a:gridCol w="4148631">
                  <a:extLst>
                    <a:ext uri="{9D8B030D-6E8A-4147-A177-3AD203B41FA5}">
                      <a16:colId xmlns:a16="http://schemas.microsoft.com/office/drawing/2014/main" val="132137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TITLE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(1)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page number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778344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9E211225-30B5-4EF3-AF87-D6226AF9C88D}"/>
              </a:ext>
            </a:extLst>
          </p:cNvPr>
          <p:cNvSpPr/>
          <p:nvPr/>
        </p:nvSpPr>
        <p:spPr>
          <a:xfrm>
            <a:off x="612970" y="623124"/>
            <a:ext cx="7259949" cy="59981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9B1C99-4BB8-4CE7-AAFA-3290F517DCCE}"/>
              </a:ext>
            </a:extLst>
          </p:cNvPr>
          <p:cNvSpPr txBox="1"/>
          <p:nvPr/>
        </p:nvSpPr>
        <p:spPr>
          <a:xfrm>
            <a:off x="1356626" y="678593"/>
            <a:ext cx="3647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경로</a:t>
            </a:r>
            <a:r>
              <a:rPr lang="en-US" altLang="ko-KR" sz="1200" b="1" dirty="0"/>
              <a:t>: Home</a:t>
            </a:r>
            <a:endParaRPr lang="ko-KR" altLang="en-US" sz="1200" b="1" dirty="0"/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8E8DACEB-994C-4DB5-B8E8-7EE3CBE33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884739"/>
              </p:ext>
            </p:extLst>
          </p:nvPr>
        </p:nvGraphicFramePr>
        <p:xfrm>
          <a:off x="8032090" y="631591"/>
          <a:ext cx="3976490" cy="5371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6452">
                  <a:extLst>
                    <a:ext uri="{9D8B030D-6E8A-4147-A177-3AD203B41FA5}">
                      <a16:colId xmlns:a16="http://schemas.microsoft.com/office/drawing/2014/main" val="360676869"/>
                    </a:ext>
                  </a:extLst>
                </a:gridCol>
                <a:gridCol w="3290038">
                  <a:extLst>
                    <a:ext uri="{9D8B030D-6E8A-4147-A177-3AD203B41FA5}">
                      <a16:colId xmlns:a16="http://schemas.microsoft.com/office/drawing/2014/main" val="2786339036"/>
                    </a:ext>
                  </a:extLst>
                </a:gridCol>
              </a:tblGrid>
              <a:tr h="3800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No.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89784"/>
                  </a:ext>
                </a:extLst>
              </a:tr>
              <a:tr h="24868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헤더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로고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메뉴로 구성되고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스크롤 시 상단에 고정됩니다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헤더 메뉴는 캐러셀 이미지 안에 포함됩니다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로고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클릭 시 메인 페이지로 이동합니다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메뉴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클릭 시 해당 페이지로 이동합니다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    (Home, Chatbot, Risk-check, Login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기능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일정 화면 이하에서 햄버거 메뉴가 나옵니다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     (Home, Chatbot, Risk-check, Login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기능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103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535708"/>
                  </a:ext>
                </a:extLst>
              </a:tr>
              <a:tr h="17299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캐러셀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캐러셀은 총 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개의 이미지로 이루어져 있고 애니메이션 효과가 적용됩니다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캐러셀 양측 버튼 클릭 시 다음 사진이 보입니다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 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캐러셀 하단 버튼을 통해 몇 번째 사진을 보여주는 지 알 수 있습니다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  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844494"/>
                  </a:ext>
                </a:extLst>
              </a:tr>
              <a:tr h="7744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서비스 소개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marL="285750" indent="-2857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dirty="0">
                          <a:solidFill>
                            <a:schemeClr val="tx1"/>
                          </a:solidFill>
                        </a:rPr>
                        <a:t>이미지와 사진들은 스크롤 시 애니메이션 효과가 적용되어 나타납니다</a:t>
                      </a:r>
                      <a:r>
                        <a:rPr lang="en-US" altLang="ko-KR" sz="103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03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003419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1638117B-910C-43A1-AAC9-02F211A739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9626"/>
          <a:stretch/>
        </p:blipFill>
        <p:spPr>
          <a:xfrm>
            <a:off x="1907858" y="1101926"/>
            <a:ext cx="4832143" cy="53951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57BAB71-05C7-4C64-9928-83BF0844521F}"/>
              </a:ext>
            </a:extLst>
          </p:cNvPr>
          <p:cNvSpPr txBox="1"/>
          <p:nvPr/>
        </p:nvSpPr>
        <p:spPr>
          <a:xfrm>
            <a:off x="8195507" y="6058000"/>
            <a:ext cx="3912052" cy="353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300" dirty="0"/>
              <a:t>모든 페이지들은 반응형 웹 구조 입니다</a:t>
            </a:r>
            <a:r>
              <a:rPr lang="en-US" altLang="ko-KR" sz="1300" dirty="0"/>
              <a:t>.</a:t>
            </a:r>
            <a:endParaRPr lang="ko-KR" altLang="en-US" sz="1300" dirty="0"/>
          </a:p>
        </p:txBody>
      </p:sp>
      <p:pic>
        <p:nvPicPr>
          <p:cNvPr id="1028" name="Picture 4" descr="1 번">
            <a:extLst>
              <a:ext uri="{FF2B5EF4-FFF2-40B4-BE49-F238E27FC236}">
                <a16:creationId xmlns:a16="http://schemas.microsoft.com/office/drawing/2014/main" id="{6074B86E-B81B-4C1B-92E4-E640485B2D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115" y="1202220"/>
            <a:ext cx="288785" cy="288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2 번">
            <a:extLst>
              <a:ext uri="{FF2B5EF4-FFF2-40B4-BE49-F238E27FC236}">
                <a16:creationId xmlns:a16="http://schemas.microsoft.com/office/drawing/2014/main" id="{C1FAB46F-48EE-4E8C-B6AE-7137F66DD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1658" y="2171700"/>
            <a:ext cx="323850" cy="32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3 번">
            <a:extLst>
              <a:ext uri="{FF2B5EF4-FFF2-40B4-BE49-F238E27FC236}">
                <a16:creationId xmlns:a16="http://schemas.microsoft.com/office/drawing/2014/main" id="{AB9F17E1-2C17-46D4-90AC-83D128F0E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612" y="3799489"/>
            <a:ext cx="374650" cy="37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5441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6">
            <a:extLst>
              <a:ext uri="{FF2B5EF4-FFF2-40B4-BE49-F238E27FC236}">
                <a16:creationId xmlns:a16="http://schemas.microsoft.com/office/drawing/2014/main" id="{67499F47-C54B-4852-94D6-83575F671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440725"/>
              </p:ext>
            </p:extLst>
          </p:nvPr>
        </p:nvGraphicFramePr>
        <p:xfrm>
          <a:off x="612969" y="117091"/>
          <a:ext cx="1139561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295">
                  <a:extLst>
                    <a:ext uri="{9D8B030D-6E8A-4147-A177-3AD203B41FA5}">
                      <a16:colId xmlns:a16="http://schemas.microsoft.com/office/drawing/2014/main" val="2232611455"/>
                    </a:ext>
                  </a:extLst>
                </a:gridCol>
                <a:gridCol w="3340004">
                  <a:extLst>
                    <a:ext uri="{9D8B030D-6E8A-4147-A177-3AD203B41FA5}">
                      <a16:colId xmlns:a16="http://schemas.microsoft.com/office/drawing/2014/main" val="4198319941"/>
                    </a:ext>
                  </a:extLst>
                </a:gridCol>
                <a:gridCol w="1880681">
                  <a:extLst>
                    <a:ext uri="{9D8B030D-6E8A-4147-A177-3AD203B41FA5}">
                      <a16:colId xmlns:a16="http://schemas.microsoft.com/office/drawing/2014/main" val="2530664953"/>
                    </a:ext>
                  </a:extLst>
                </a:gridCol>
                <a:gridCol w="4148631">
                  <a:extLst>
                    <a:ext uri="{9D8B030D-6E8A-4147-A177-3AD203B41FA5}">
                      <a16:colId xmlns:a16="http://schemas.microsoft.com/office/drawing/2014/main" val="132137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TITLE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(2)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page number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778344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9E211225-30B5-4EF3-AF87-D6226AF9C88D}"/>
              </a:ext>
            </a:extLst>
          </p:cNvPr>
          <p:cNvSpPr/>
          <p:nvPr/>
        </p:nvSpPr>
        <p:spPr>
          <a:xfrm>
            <a:off x="612970" y="623124"/>
            <a:ext cx="7259949" cy="59981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9B1C99-4BB8-4CE7-AAFA-3290F517DCCE}"/>
              </a:ext>
            </a:extLst>
          </p:cNvPr>
          <p:cNvSpPr txBox="1"/>
          <p:nvPr/>
        </p:nvSpPr>
        <p:spPr>
          <a:xfrm>
            <a:off x="1356626" y="678593"/>
            <a:ext cx="3647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경로</a:t>
            </a:r>
            <a:r>
              <a:rPr lang="en-US" altLang="ko-KR" sz="1200" b="1" dirty="0"/>
              <a:t>: Home</a:t>
            </a:r>
            <a:endParaRPr lang="ko-KR" altLang="en-US" sz="1200" b="1" dirty="0"/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8E8DACEB-994C-4DB5-B8E8-7EE3CBE33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236952"/>
              </p:ext>
            </p:extLst>
          </p:nvPr>
        </p:nvGraphicFramePr>
        <p:xfrm>
          <a:off x="8032091" y="623126"/>
          <a:ext cx="3976490" cy="6001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6452">
                  <a:extLst>
                    <a:ext uri="{9D8B030D-6E8A-4147-A177-3AD203B41FA5}">
                      <a16:colId xmlns:a16="http://schemas.microsoft.com/office/drawing/2014/main" val="360676869"/>
                    </a:ext>
                  </a:extLst>
                </a:gridCol>
                <a:gridCol w="3290038">
                  <a:extLst>
                    <a:ext uri="{9D8B030D-6E8A-4147-A177-3AD203B41FA5}">
                      <a16:colId xmlns:a16="http://schemas.microsoft.com/office/drawing/2014/main" val="2786339036"/>
                    </a:ext>
                  </a:extLst>
                </a:gridCol>
              </a:tblGrid>
              <a:tr h="378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No.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89784"/>
                  </a:ext>
                </a:extLst>
              </a:tr>
              <a:tr h="14806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서비스 카드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algn="just" latinLnBrk="1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서비스 카드 버튼 클릭 시 해당 페이지로 이동합니다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서비스 카드 등장 시 애니메이션 효과가 적용 됩니다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535708"/>
                  </a:ext>
                </a:extLst>
              </a:tr>
              <a:tr h="20393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서비스 이용 안내 슬라이드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총 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개의 슬라이드로 이루어져 있습니다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슬라이드 하단의 도형으로 슬라이드를 선택 할 수 있습니다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도형 색깔로 현재 몇번째 슬라이드인지 알 수 있습니다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844494"/>
                  </a:ext>
                </a:extLst>
              </a:tr>
              <a:tr h="20992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푸터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Home, contact us, QnA, Mail, GITHUB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메뉴로 이루어져 있습니다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Mail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클릭 시 홈페이지 제작자에게 메일을 전송하는 화면이 나옵니다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GITHUB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클릭 시 홈페이지 제작자 깃허브 레포지토리 화면이 나옵니다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959456"/>
                  </a:ext>
                </a:extLst>
              </a:tr>
            </a:tbl>
          </a:graphicData>
        </a:graphic>
      </p:graphicFrame>
      <p:grpSp>
        <p:nvGrpSpPr>
          <p:cNvPr id="11" name="그룹 10">
            <a:extLst>
              <a:ext uri="{FF2B5EF4-FFF2-40B4-BE49-F238E27FC236}">
                <a16:creationId xmlns:a16="http://schemas.microsoft.com/office/drawing/2014/main" id="{AEDCB637-B209-499B-98AD-0E4D79B1B9F6}"/>
              </a:ext>
            </a:extLst>
          </p:cNvPr>
          <p:cNvGrpSpPr/>
          <p:nvPr/>
        </p:nvGrpSpPr>
        <p:grpSpPr>
          <a:xfrm>
            <a:off x="1961088" y="1134751"/>
            <a:ext cx="4680344" cy="5100125"/>
            <a:chOff x="-10128545" y="7946505"/>
            <a:chExt cx="8896721" cy="9676860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CE5D306F-1373-4D6F-932F-7438D26FDC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8148" r="1003" b="5926"/>
            <a:stretch/>
          </p:blipFill>
          <p:spPr>
            <a:xfrm>
              <a:off x="-10128545" y="7946505"/>
              <a:ext cx="8896721" cy="4826281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8E821A4F-4FCD-4D1E-AB11-B251A72C92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8311" r="788" b="4775"/>
            <a:stretch/>
          </p:blipFill>
          <p:spPr>
            <a:xfrm>
              <a:off x="-10128545" y="12752189"/>
              <a:ext cx="8896721" cy="4871176"/>
            </a:xfrm>
            <a:prstGeom prst="rect">
              <a:avLst/>
            </a:prstGeom>
          </p:spPr>
        </p:pic>
      </p:grpSp>
      <p:pic>
        <p:nvPicPr>
          <p:cNvPr id="2050" name="Picture 2" descr="4번">
            <a:extLst>
              <a:ext uri="{FF2B5EF4-FFF2-40B4-BE49-F238E27FC236}">
                <a16:creationId xmlns:a16="http://schemas.microsoft.com/office/drawing/2014/main" id="{A390DAB1-4F12-4E0C-BB08-296242DE4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7860" y="1657349"/>
            <a:ext cx="346939" cy="346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5 번">
            <a:extLst>
              <a:ext uri="{FF2B5EF4-FFF2-40B4-BE49-F238E27FC236}">
                <a16:creationId xmlns:a16="http://schemas.microsoft.com/office/drawing/2014/main" id="{9D446B73-7818-4883-BF98-9EEC27AE8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950" y="4267200"/>
            <a:ext cx="323849" cy="32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6번">
            <a:extLst>
              <a:ext uri="{FF2B5EF4-FFF2-40B4-BE49-F238E27FC236}">
                <a16:creationId xmlns:a16="http://schemas.microsoft.com/office/drawing/2014/main" id="{FD1E9831-7538-4334-AFE5-E9E5C5E1B0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6754" y="5473700"/>
            <a:ext cx="330200" cy="33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3054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6">
            <a:extLst>
              <a:ext uri="{FF2B5EF4-FFF2-40B4-BE49-F238E27FC236}">
                <a16:creationId xmlns:a16="http://schemas.microsoft.com/office/drawing/2014/main" id="{67499F47-C54B-4852-94D6-83575F671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381793"/>
              </p:ext>
            </p:extLst>
          </p:nvPr>
        </p:nvGraphicFramePr>
        <p:xfrm>
          <a:off x="612969" y="117091"/>
          <a:ext cx="1139561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295">
                  <a:extLst>
                    <a:ext uri="{9D8B030D-6E8A-4147-A177-3AD203B41FA5}">
                      <a16:colId xmlns:a16="http://schemas.microsoft.com/office/drawing/2014/main" val="2232611455"/>
                    </a:ext>
                  </a:extLst>
                </a:gridCol>
                <a:gridCol w="3340004">
                  <a:extLst>
                    <a:ext uri="{9D8B030D-6E8A-4147-A177-3AD203B41FA5}">
                      <a16:colId xmlns:a16="http://schemas.microsoft.com/office/drawing/2014/main" val="4198319941"/>
                    </a:ext>
                  </a:extLst>
                </a:gridCol>
                <a:gridCol w="1880681">
                  <a:extLst>
                    <a:ext uri="{9D8B030D-6E8A-4147-A177-3AD203B41FA5}">
                      <a16:colId xmlns:a16="http://schemas.microsoft.com/office/drawing/2014/main" val="2530664953"/>
                    </a:ext>
                  </a:extLst>
                </a:gridCol>
                <a:gridCol w="4148631">
                  <a:extLst>
                    <a:ext uri="{9D8B030D-6E8A-4147-A177-3AD203B41FA5}">
                      <a16:colId xmlns:a16="http://schemas.microsoft.com/office/drawing/2014/main" val="132137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TITLE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생성형 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AI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page number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778344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9E211225-30B5-4EF3-AF87-D6226AF9C88D}"/>
              </a:ext>
            </a:extLst>
          </p:cNvPr>
          <p:cNvSpPr/>
          <p:nvPr/>
        </p:nvSpPr>
        <p:spPr>
          <a:xfrm>
            <a:off x="612970" y="623124"/>
            <a:ext cx="7259949" cy="59981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9B1C99-4BB8-4CE7-AAFA-3290F517DCCE}"/>
              </a:ext>
            </a:extLst>
          </p:cNvPr>
          <p:cNvSpPr txBox="1"/>
          <p:nvPr/>
        </p:nvSpPr>
        <p:spPr>
          <a:xfrm>
            <a:off x="1356626" y="678593"/>
            <a:ext cx="3647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경로</a:t>
            </a:r>
            <a:r>
              <a:rPr lang="en-US" altLang="ko-KR" sz="1200" b="1" dirty="0"/>
              <a:t>: ai/chat</a:t>
            </a:r>
            <a:endParaRPr lang="ko-KR" altLang="en-US" sz="1200" b="1" dirty="0"/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8E8DACEB-994C-4DB5-B8E8-7EE3CBE33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495413"/>
              </p:ext>
            </p:extLst>
          </p:nvPr>
        </p:nvGraphicFramePr>
        <p:xfrm>
          <a:off x="8032091" y="623126"/>
          <a:ext cx="3976490" cy="59981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6452">
                  <a:extLst>
                    <a:ext uri="{9D8B030D-6E8A-4147-A177-3AD203B41FA5}">
                      <a16:colId xmlns:a16="http://schemas.microsoft.com/office/drawing/2014/main" val="360676869"/>
                    </a:ext>
                  </a:extLst>
                </a:gridCol>
                <a:gridCol w="3290038">
                  <a:extLst>
                    <a:ext uri="{9D8B030D-6E8A-4147-A177-3AD203B41FA5}">
                      <a16:colId xmlns:a16="http://schemas.microsoft.com/office/drawing/2014/main" val="2786339036"/>
                    </a:ext>
                  </a:extLst>
                </a:gridCol>
              </a:tblGrid>
              <a:tr h="4232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No.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89784"/>
                  </a:ext>
                </a:extLst>
              </a:tr>
              <a:tr h="16543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&lt;RAG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Chat&gt;</a:t>
                      </a:r>
                    </a:p>
                    <a:p>
                      <a:pPr algn="just" latinLnBrk="1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오른쪽 전송 버튼 클릭 시 사용자의 질문이 대화 창 내 보여집니다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메시지를 입력하세요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’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는 고정 멘트 입니다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535708"/>
                  </a:ext>
                </a:extLst>
              </a:tr>
              <a:tr h="15708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응답 화면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챗봇 응답 시 답변이 길어지면 마우스 휠로 스크롤 하여 답변을 내릴 수 있습니다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844494"/>
                  </a:ext>
                </a:extLst>
              </a:tr>
              <a:tr h="23496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&lt;Custom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AI&gt;</a:t>
                      </a:r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좌측 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RAG Chat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과 동일하게 오른쪽 전송 버튼 클릭 시 사용자의 질문이 대화 창 내 보여집니다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메시지를 입력하세요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’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는 고정 멘트 입니다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959456"/>
                  </a:ext>
                </a:extLst>
              </a:tr>
            </a:tbl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9D94DC85-E7B5-4F62-AA0E-9150FD19B192}"/>
              </a:ext>
            </a:extLst>
          </p:cNvPr>
          <p:cNvGrpSpPr/>
          <p:nvPr/>
        </p:nvGrpSpPr>
        <p:grpSpPr>
          <a:xfrm>
            <a:off x="1356626" y="1281139"/>
            <a:ext cx="5954639" cy="4295721"/>
            <a:chOff x="-2726922" y="1550076"/>
            <a:chExt cx="7228148" cy="4994646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2D4951DC-805B-4A36-B09E-0125AD321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726922" y="1550076"/>
              <a:ext cx="7228148" cy="3932501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CB6A665-8E3A-4891-9761-92447C3699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72963" r="1164" b="4884"/>
            <a:stretch/>
          </p:blipFill>
          <p:spPr>
            <a:xfrm>
              <a:off x="-2726922" y="5478441"/>
              <a:ext cx="7228148" cy="1066281"/>
            </a:xfrm>
            <a:prstGeom prst="rect">
              <a:avLst/>
            </a:prstGeom>
          </p:spPr>
        </p:pic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A65BF32C-6065-4A42-8486-63E476B7B55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572"/>
          <a:stretch/>
        </p:blipFill>
        <p:spPr>
          <a:xfrm>
            <a:off x="1197454" y="3023451"/>
            <a:ext cx="2047556" cy="922307"/>
          </a:xfrm>
          <a:prstGeom prst="rect">
            <a:avLst/>
          </a:prstGeom>
        </p:spPr>
      </p:pic>
      <p:pic>
        <p:nvPicPr>
          <p:cNvPr id="21" name="Picture 4" descr="1 번">
            <a:extLst>
              <a:ext uri="{FF2B5EF4-FFF2-40B4-BE49-F238E27FC236}">
                <a16:creationId xmlns:a16="http://schemas.microsoft.com/office/drawing/2014/main" id="{F5EC2362-8B1E-4A38-8274-97C8ED456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2447" y="2001207"/>
            <a:ext cx="288785" cy="288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2 번">
            <a:extLst>
              <a:ext uri="{FF2B5EF4-FFF2-40B4-BE49-F238E27FC236}">
                <a16:creationId xmlns:a16="http://schemas.microsoft.com/office/drawing/2014/main" id="{20859CA7-EA3D-4DDC-9671-62564814C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8190" y="3219450"/>
            <a:ext cx="265154" cy="265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8" descr="3 번">
            <a:extLst>
              <a:ext uri="{FF2B5EF4-FFF2-40B4-BE49-F238E27FC236}">
                <a16:creationId xmlns:a16="http://schemas.microsoft.com/office/drawing/2014/main" id="{AA4990E5-11DA-45AE-A9C0-35C190B4C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5938" y="1982450"/>
            <a:ext cx="288785" cy="288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67141EBB-82B5-43E1-8334-8A9EA1219452}"/>
              </a:ext>
            </a:extLst>
          </p:cNvPr>
          <p:cNvSpPr/>
          <p:nvPr/>
        </p:nvSpPr>
        <p:spPr>
          <a:xfrm>
            <a:off x="5588072" y="2216074"/>
            <a:ext cx="197484" cy="132015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833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6">
            <a:extLst>
              <a:ext uri="{FF2B5EF4-FFF2-40B4-BE49-F238E27FC236}">
                <a16:creationId xmlns:a16="http://schemas.microsoft.com/office/drawing/2014/main" id="{67499F47-C54B-4852-94D6-83575F671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569834"/>
              </p:ext>
            </p:extLst>
          </p:nvPr>
        </p:nvGraphicFramePr>
        <p:xfrm>
          <a:off x="612969" y="117091"/>
          <a:ext cx="1139561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295">
                  <a:extLst>
                    <a:ext uri="{9D8B030D-6E8A-4147-A177-3AD203B41FA5}">
                      <a16:colId xmlns:a16="http://schemas.microsoft.com/office/drawing/2014/main" val="2232611455"/>
                    </a:ext>
                  </a:extLst>
                </a:gridCol>
                <a:gridCol w="3340004">
                  <a:extLst>
                    <a:ext uri="{9D8B030D-6E8A-4147-A177-3AD203B41FA5}">
                      <a16:colId xmlns:a16="http://schemas.microsoft.com/office/drawing/2014/main" val="4198319941"/>
                    </a:ext>
                  </a:extLst>
                </a:gridCol>
                <a:gridCol w="1880681">
                  <a:extLst>
                    <a:ext uri="{9D8B030D-6E8A-4147-A177-3AD203B41FA5}">
                      <a16:colId xmlns:a16="http://schemas.microsoft.com/office/drawing/2014/main" val="2530664953"/>
                    </a:ext>
                  </a:extLst>
                </a:gridCol>
                <a:gridCol w="4148631">
                  <a:extLst>
                    <a:ext uri="{9D8B030D-6E8A-4147-A177-3AD203B41FA5}">
                      <a16:colId xmlns:a16="http://schemas.microsoft.com/office/drawing/2014/main" val="132137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TITLE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LSD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전파 예측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연도별 예측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page number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778344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9E211225-30B5-4EF3-AF87-D6226AF9C88D}"/>
              </a:ext>
            </a:extLst>
          </p:cNvPr>
          <p:cNvSpPr/>
          <p:nvPr/>
        </p:nvSpPr>
        <p:spPr>
          <a:xfrm>
            <a:off x="612970" y="623124"/>
            <a:ext cx="7259949" cy="59981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9B1C99-4BB8-4CE7-AAFA-3290F517DCCE}"/>
              </a:ext>
            </a:extLst>
          </p:cNvPr>
          <p:cNvSpPr txBox="1"/>
          <p:nvPr/>
        </p:nvSpPr>
        <p:spPr>
          <a:xfrm>
            <a:off x="1356626" y="678593"/>
            <a:ext cx="3647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경로</a:t>
            </a:r>
            <a:r>
              <a:rPr lang="en-US" altLang="ko-KR" sz="1200" b="1" dirty="0"/>
              <a:t>: /graph</a:t>
            </a:r>
            <a:endParaRPr lang="ko-KR" altLang="en-US" sz="1200" b="1" dirty="0"/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8E8DACEB-994C-4DB5-B8E8-7EE3CBE33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78367"/>
              </p:ext>
            </p:extLst>
          </p:nvPr>
        </p:nvGraphicFramePr>
        <p:xfrm>
          <a:off x="8032090" y="619714"/>
          <a:ext cx="3976490" cy="5998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6452">
                  <a:extLst>
                    <a:ext uri="{9D8B030D-6E8A-4147-A177-3AD203B41FA5}">
                      <a16:colId xmlns:a16="http://schemas.microsoft.com/office/drawing/2014/main" val="360676869"/>
                    </a:ext>
                  </a:extLst>
                </a:gridCol>
                <a:gridCol w="3290038">
                  <a:extLst>
                    <a:ext uri="{9D8B030D-6E8A-4147-A177-3AD203B41FA5}">
                      <a16:colId xmlns:a16="http://schemas.microsoft.com/office/drawing/2014/main" val="2786339036"/>
                    </a:ext>
                  </a:extLst>
                </a:gridCol>
              </a:tblGrid>
              <a:tr h="3672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No.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89784"/>
                  </a:ext>
                </a:extLst>
              </a:tr>
              <a:tr h="23810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&lt;Drop-down / Button&gt;</a:t>
                      </a:r>
                    </a:p>
                    <a:p>
                      <a:pPr algn="just" latinLnBrk="1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날짜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위치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분석결과 보기로 이루어져 있습니다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위치는 충청남도 지역의 시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군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구 를 선택할 수 있습니다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분석결과 보기 버튼 클릭 시 드롭 다운에 해당하는 그래프로 화면이 바뀝니다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어떤 페이지를 이용중인지 좌측 버튼을 통해 알 수 있습니다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좌측 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개의 버튼 클릭 시 해당 화면을 보여줍니다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535708"/>
                  </a:ext>
                </a:extLst>
              </a:tr>
              <a:tr h="23942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그래프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페이지 로딩 시 제일 처음 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2024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년 서산시의 그래프가 고정 값으로 보입니다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그래프 생성 시 애니메이션 효과가 적용됩니다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사용자가 선택한 드롭 다운에 맞게 그래프 제목이 변경 됩니다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dirty="0"/>
                        <a:t>각 그래프 점에 마우스를 올리면 해당 값에 대한 상세 정보가 툴팁으로 표시됩니다</a:t>
                      </a:r>
                      <a:r>
                        <a:rPr lang="en-US" altLang="ko-KR" sz="1050" dirty="0"/>
                        <a:t>.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844494"/>
                  </a:ext>
                </a:extLst>
              </a:tr>
              <a:tr h="8554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분석 과정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그래프에 대한 해당 분석 과정과 이미지를 보여줍니다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959456"/>
                  </a:ext>
                </a:extLst>
              </a:tr>
            </a:tbl>
          </a:graphicData>
        </a:graphic>
      </p:graphicFrame>
      <p:grpSp>
        <p:nvGrpSpPr>
          <p:cNvPr id="18" name="그룹 17">
            <a:extLst>
              <a:ext uri="{FF2B5EF4-FFF2-40B4-BE49-F238E27FC236}">
                <a16:creationId xmlns:a16="http://schemas.microsoft.com/office/drawing/2014/main" id="{C9114C26-DFBE-4A00-B2F7-6F49AD6E2190}"/>
              </a:ext>
            </a:extLst>
          </p:cNvPr>
          <p:cNvGrpSpPr/>
          <p:nvPr/>
        </p:nvGrpSpPr>
        <p:grpSpPr>
          <a:xfrm>
            <a:off x="1540934" y="1204535"/>
            <a:ext cx="5813824" cy="4974872"/>
            <a:chOff x="-6680772" y="885524"/>
            <a:chExt cx="10859428" cy="1039528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07F1B0D-09A7-4B3C-970D-AFB428FA6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26180" y="1824354"/>
              <a:ext cx="452476" cy="1518920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EF617CBA-B9AD-4487-9FAE-6ACC2F43D3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8502" r="1033" b="18797"/>
            <a:stretch/>
          </p:blipFill>
          <p:spPr>
            <a:xfrm>
              <a:off x="-6680772" y="885524"/>
              <a:ext cx="10859428" cy="4985888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26C2A0BB-403C-46F1-B459-082A8CE33C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7155" r="1033" b="4463"/>
            <a:stretch/>
          </p:blipFill>
          <p:spPr>
            <a:xfrm>
              <a:off x="-6680772" y="5871412"/>
              <a:ext cx="10859428" cy="5409399"/>
            </a:xfrm>
            <a:prstGeom prst="rect">
              <a:avLst/>
            </a:prstGeom>
          </p:spPr>
        </p:pic>
      </p:grpSp>
      <p:pic>
        <p:nvPicPr>
          <p:cNvPr id="20" name="Picture 4" descr="1 번">
            <a:extLst>
              <a:ext uri="{FF2B5EF4-FFF2-40B4-BE49-F238E27FC236}">
                <a16:creationId xmlns:a16="http://schemas.microsoft.com/office/drawing/2014/main" id="{ECF249E7-F06F-40B2-A365-E3EDEF0AF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9948" y="1697823"/>
            <a:ext cx="257978" cy="25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 descr="2 번">
            <a:extLst>
              <a:ext uri="{FF2B5EF4-FFF2-40B4-BE49-F238E27FC236}">
                <a16:creationId xmlns:a16="http://schemas.microsoft.com/office/drawing/2014/main" id="{424B923E-B0DE-474D-A20B-2D60F4D8AF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5040" y="2265006"/>
            <a:ext cx="265154" cy="265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8" descr="3 번">
            <a:extLst>
              <a:ext uri="{FF2B5EF4-FFF2-40B4-BE49-F238E27FC236}">
                <a16:creationId xmlns:a16="http://schemas.microsoft.com/office/drawing/2014/main" id="{2796BE5E-09A1-44EF-A5F6-A359F09C6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639" y="3695182"/>
            <a:ext cx="251812" cy="25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7694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6">
            <a:extLst>
              <a:ext uri="{FF2B5EF4-FFF2-40B4-BE49-F238E27FC236}">
                <a16:creationId xmlns:a16="http://schemas.microsoft.com/office/drawing/2014/main" id="{67499F47-C54B-4852-94D6-83575F671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528881"/>
              </p:ext>
            </p:extLst>
          </p:nvPr>
        </p:nvGraphicFramePr>
        <p:xfrm>
          <a:off x="612969" y="117091"/>
          <a:ext cx="1139561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295">
                  <a:extLst>
                    <a:ext uri="{9D8B030D-6E8A-4147-A177-3AD203B41FA5}">
                      <a16:colId xmlns:a16="http://schemas.microsoft.com/office/drawing/2014/main" val="2232611455"/>
                    </a:ext>
                  </a:extLst>
                </a:gridCol>
                <a:gridCol w="3340004">
                  <a:extLst>
                    <a:ext uri="{9D8B030D-6E8A-4147-A177-3AD203B41FA5}">
                      <a16:colId xmlns:a16="http://schemas.microsoft.com/office/drawing/2014/main" val="4198319941"/>
                    </a:ext>
                  </a:extLst>
                </a:gridCol>
                <a:gridCol w="1880681">
                  <a:extLst>
                    <a:ext uri="{9D8B030D-6E8A-4147-A177-3AD203B41FA5}">
                      <a16:colId xmlns:a16="http://schemas.microsoft.com/office/drawing/2014/main" val="2530664953"/>
                    </a:ext>
                  </a:extLst>
                </a:gridCol>
                <a:gridCol w="4148631">
                  <a:extLst>
                    <a:ext uri="{9D8B030D-6E8A-4147-A177-3AD203B41FA5}">
                      <a16:colId xmlns:a16="http://schemas.microsoft.com/office/drawing/2014/main" val="132137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TITLE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LSD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전파 예측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  &gt;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시간별 감염 진행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page number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778344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9E211225-30B5-4EF3-AF87-D6226AF9C88D}"/>
              </a:ext>
            </a:extLst>
          </p:cNvPr>
          <p:cNvSpPr/>
          <p:nvPr/>
        </p:nvSpPr>
        <p:spPr>
          <a:xfrm>
            <a:off x="612970" y="623124"/>
            <a:ext cx="7259949" cy="59981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9B1C99-4BB8-4CE7-AAFA-3290F517DCCE}"/>
              </a:ext>
            </a:extLst>
          </p:cNvPr>
          <p:cNvSpPr txBox="1"/>
          <p:nvPr/>
        </p:nvSpPr>
        <p:spPr>
          <a:xfrm>
            <a:off x="1356626" y="678593"/>
            <a:ext cx="3647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경로</a:t>
            </a:r>
            <a:r>
              <a:rPr lang="en-US" altLang="ko-KR" sz="1200" b="1" dirty="0"/>
              <a:t>: /infection_curve</a:t>
            </a:r>
            <a:endParaRPr lang="ko-KR" altLang="en-US" sz="1200" b="1" dirty="0"/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8E8DACEB-994C-4DB5-B8E8-7EE3CBE33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046375"/>
              </p:ext>
            </p:extLst>
          </p:nvPr>
        </p:nvGraphicFramePr>
        <p:xfrm>
          <a:off x="8032090" y="619714"/>
          <a:ext cx="3976490" cy="59981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6452">
                  <a:extLst>
                    <a:ext uri="{9D8B030D-6E8A-4147-A177-3AD203B41FA5}">
                      <a16:colId xmlns:a16="http://schemas.microsoft.com/office/drawing/2014/main" val="360676869"/>
                    </a:ext>
                  </a:extLst>
                </a:gridCol>
                <a:gridCol w="3290038">
                  <a:extLst>
                    <a:ext uri="{9D8B030D-6E8A-4147-A177-3AD203B41FA5}">
                      <a16:colId xmlns:a16="http://schemas.microsoft.com/office/drawing/2014/main" val="2786339036"/>
                    </a:ext>
                  </a:extLst>
                </a:gridCol>
              </a:tblGrid>
              <a:tr h="3788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No.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89784"/>
                  </a:ext>
                </a:extLst>
              </a:tr>
              <a:tr h="24561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&lt;Drop-down / Button&gt;</a:t>
                      </a:r>
                    </a:p>
                    <a:p>
                      <a:pPr algn="just" latinLnBrk="1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드롭 다운을 선택하면 선택한 시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군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구에 해당하는 날짜에 대한 결과가 나옵니다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103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분석결과 보기 버튼 클릭 시 드롭 다운에 해당하는 그래프로 화면이 바뀝니다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어떤 페이지를 이용중인지 좌측 버튼을 통해 알 수 있습니다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좌측 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개의 버튼 클릭 시 해당 화면을 보여줍니다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535708"/>
                  </a:ext>
                </a:extLst>
              </a:tr>
              <a:tr h="22806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그래프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페이지 로딩 시 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2025 7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월 서산시의 그래프가 고정 값으로 보여집니다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/>
                        <a:t>각 그래프 점에 마우스를 올리면 해당 값에 대한 상세 정보가 툴팁으로 표시됩니다</a:t>
                      </a:r>
                      <a:r>
                        <a:rPr lang="en-US" altLang="ko-KR" sz="1000" dirty="0"/>
                        <a:t>.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그래프는 애니메이션 효과로 등장합니다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844494"/>
                  </a:ext>
                </a:extLst>
              </a:tr>
              <a:tr h="8824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분석 과정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그래프에 대한 해당 분석 과정을 보여줍니다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959456"/>
                  </a:ext>
                </a:extLst>
              </a:tr>
            </a:tbl>
          </a:graphicData>
        </a:graphic>
      </p:graphicFrame>
      <p:grpSp>
        <p:nvGrpSpPr>
          <p:cNvPr id="18" name="그룹 17">
            <a:extLst>
              <a:ext uri="{FF2B5EF4-FFF2-40B4-BE49-F238E27FC236}">
                <a16:creationId xmlns:a16="http://schemas.microsoft.com/office/drawing/2014/main" id="{C9114C26-DFBE-4A00-B2F7-6F49AD6E2190}"/>
              </a:ext>
            </a:extLst>
          </p:cNvPr>
          <p:cNvGrpSpPr/>
          <p:nvPr/>
        </p:nvGrpSpPr>
        <p:grpSpPr>
          <a:xfrm>
            <a:off x="1540934" y="1204535"/>
            <a:ext cx="5813824" cy="4974872"/>
            <a:chOff x="-6680772" y="885524"/>
            <a:chExt cx="10859428" cy="1039528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07F1B0D-09A7-4B3C-970D-AFB428FA6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26180" y="1824354"/>
              <a:ext cx="452476" cy="1518920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EF617CBA-B9AD-4487-9FAE-6ACC2F43D3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8502" r="1033" b="18797"/>
            <a:stretch/>
          </p:blipFill>
          <p:spPr>
            <a:xfrm>
              <a:off x="-6680772" y="885524"/>
              <a:ext cx="10859428" cy="4985888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26C2A0BB-403C-46F1-B459-082A8CE33C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7155" r="1033" b="4463"/>
            <a:stretch/>
          </p:blipFill>
          <p:spPr>
            <a:xfrm>
              <a:off x="-6680772" y="5871412"/>
              <a:ext cx="10859428" cy="5409399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11DE1814-2C94-416B-ADC6-F9DBEE2C7552}"/>
              </a:ext>
            </a:extLst>
          </p:cNvPr>
          <p:cNvGrpSpPr/>
          <p:nvPr/>
        </p:nvGrpSpPr>
        <p:grpSpPr>
          <a:xfrm>
            <a:off x="1540934" y="1633912"/>
            <a:ext cx="5813824" cy="3939116"/>
            <a:chOff x="-15786117" y="-6663"/>
            <a:chExt cx="10879667" cy="895298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B22E314A-0B1F-498A-BFED-29A187142E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21358" r="849" b="20000"/>
            <a:stretch/>
          </p:blipFill>
          <p:spPr>
            <a:xfrm>
              <a:off x="-15786117" y="-6663"/>
              <a:ext cx="10879667" cy="4021668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DC9D8424-1275-4EA5-A4B0-47C6A36BEF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12538" r="849" b="15555"/>
            <a:stretch/>
          </p:blipFill>
          <p:spPr>
            <a:xfrm>
              <a:off x="-15786117" y="4015005"/>
              <a:ext cx="10879667" cy="4931318"/>
            </a:xfrm>
            <a:prstGeom prst="rect">
              <a:avLst/>
            </a:prstGeom>
          </p:spPr>
        </p:pic>
      </p:grpSp>
      <p:pic>
        <p:nvPicPr>
          <p:cNvPr id="15" name="Picture 4" descr="1 번">
            <a:extLst>
              <a:ext uri="{FF2B5EF4-FFF2-40B4-BE49-F238E27FC236}">
                <a16:creationId xmlns:a16="http://schemas.microsoft.com/office/drawing/2014/main" id="{03AEBAE1-17B9-41A1-8063-EAEA97C1C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9948" y="1697823"/>
            <a:ext cx="257978" cy="25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2 번">
            <a:extLst>
              <a:ext uri="{FF2B5EF4-FFF2-40B4-BE49-F238E27FC236}">
                <a16:creationId xmlns:a16="http://schemas.microsoft.com/office/drawing/2014/main" id="{D8B3996D-427D-470A-9FC0-EEABF0360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5040" y="2265006"/>
            <a:ext cx="265154" cy="265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8" descr="3 번">
            <a:extLst>
              <a:ext uri="{FF2B5EF4-FFF2-40B4-BE49-F238E27FC236}">
                <a16:creationId xmlns:a16="http://schemas.microsoft.com/office/drawing/2014/main" id="{4194FAD8-6D41-4C98-912F-947F950AC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020" y="3498368"/>
            <a:ext cx="251812" cy="25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0808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6">
            <a:extLst>
              <a:ext uri="{FF2B5EF4-FFF2-40B4-BE49-F238E27FC236}">
                <a16:creationId xmlns:a16="http://schemas.microsoft.com/office/drawing/2014/main" id="{67499F47-C54B-4852-94D6-83575F671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461154"/>
              </p:ext>
            </p:extLst>
          </p:nvPr>
        </p:nvGraphicFramePr>
        <p:xfrm>
          <a:off x="612969" y="117091"/>
          <a:ext cx="1139561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295">
                  <a:extLst>
                    <a:ext uri="{9D8B030D-6E8A-4147-A177-3AD203B41FA5}">
                      <a16:colId xmlns:a16="http://schemas.microsoft.com/office/drawing/2014/main" val="2232611455"/>
                    </a:ext>
                  </a:extLst>
                </a:gridCol>
                <a:gridCol w="3340004">
                  <a:extLst>
                    <a:ext uri="{9D8B030D-6E8A-4147-A177-3AD203B41FA5}">
                      <a16:colId xmlns:a16="http://schemas.microsoft.com/office/drawing/2014/main" val="4198319941"/>
                    </a:ext>
                  </a:extLst>
                </a:gridCol>
                <a:gridCol w="1880681">
                  <a:extLst>
                    <a:ext uri="{9D8B030D-6E8A-4147-A177-3AD203B41FA5}">
                      <a16:colId xmlns:a16="http://schemas.microsoft.com/office/drawing/2014/main" val="2530664953"/>
                    </a:ext>
                  </a:extLst>
                </a:gridCol>
                <a:gridCol w="4148631">
                  <a:extLst>
                    <a:ext uri="{9D8B030D-6E8A-4147-A177-3AD203B41FA5}">
                      <a16:colId xmlns:a16="http://schemas.microsoft.com/office/drawing/2014/main" val="132137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TITLE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LSD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전파 예측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  &gt;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감염 한계치 분석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page number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778344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9E211225-30B5-4EF3-AF87-D6226AF9C88D}"/>
              </a:ext>
            </a:extLst>
          </p:cNvPr>
          <p:cNvSpPr/>
          <p:nvPr/>
        </p:nvSpPr>
        <p:spPr>
          <a:xfrm>
            <a:off x="612970" y="623124"/>
            <a:ext cx="7259949" cy="59981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9B1C99-4BB8-4CE7-AAFA-3290F517DCCE}"/>
              </a:ext>
            </a:extLst>
          </p:cNvPr>
          <p:cNvSpPr txBox="1"/>
          <p:nvPr/>
        </p:nvSpPr>
        <p:spPr>
          <a:xfrm>
            <a:off x="1356626" y="678593"/>
            <a:ext cx="3647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경로</a:t>
            </a:r>
            <a:r>
              <a:rPr lang="en-US" altLang="ko-KR" sz="1200" b="1" dirty="0"/>
              <a:t>: /max_infected</a:t>
            </a:r>
            <a:endParaRPr lang="ko-KR" altLang="en-US" sz="1200" b="1" dirty="0"/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8E8DACEB-994C-4DB5-B8E8-7EE3CBE33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228925"/>
              </p:ext>
            </p:extLst>
          </p:nvPr>
        </p:nvGraphicFramePr>
        <p:xfrm>
          <a:off x="8032090" y="619715"/>
          <a:ext cx="3976490" cy="6005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6452">
                  <a:extLst>
                    <a:ext uri="{9D8B030D-6E8A-4147-A177-3AD203B41FA5}">
                      <a16:colId xmlns:a16="http://schemas.microsoft.com/office/drawing/2014/main" val="360676869"/>
                    </a:ext>
                  </a:extLst>
                </a:gridCol>
                <a:gridCol w="3290038">
                  <a:extLst>
                    <a:ext uri="{9D8B030D-6E8A-4147-A177-3AD203B41FA5}">
                      <a16:colId xmlns:a16="http://schemas.microsoft.com/office/drawing/2014/main" val="2786339036"/>
                    </a:ext>
                  </a:extLst>
                </a:gridCol>
              </a:tblGrid>
              <a:tr h="345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No.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89784"/>
                  </a:ext>
                </a:extLst>
              </a:tr>
              <a:tr h="21759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&lt;Drop-down / Button&gt;</a:t>
                      </a:r>
                    </a:p>
                    <a:p>
                      <a:pPr algn="just" latinLnBrk="1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그래프는 드롭 다운으로 선택한 시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군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구의 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년 예상 결과를 보여줍니다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분석결과 보기 버튼 클릭 시 드롭 다운에 해당하는 그래프로 화면이 바뀝니다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어떤 페이지를 이용중인지 좌측 버튼을 통해 알 수 있습니다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좌측 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개의 버튼 클릭 시 해당 화면을 보여줍니다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535708"/>
                  </a:ext>
                </a:extLst>
              </a:tr>
              <a:tr h="25347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그래프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페이지 로딩 시 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2025 7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월 서산시의 그래프가 고정 값으로 보여집니다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/>
                        <a:t>각 그래프 점에 마우스를 올리면 해당 값에 대한 상세 정보가 툴팁으로 표시됩니다</a:t>
                      </a:r>
                      <a:r>
                        <a:rPr lang="en-US" altLang="ko-KR" sz="1000" dirty="0"/>
                        <a:t>.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그래프는 애니메이션 효과로 등장합니다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임계값은 고정된 값으로 화면에서 변하지 않습니다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844494"/>
                  </a:ext>
                </a:extLst>
              </a:tr>
              <a:tr h="7818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분석 과정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그래프에 대한 해당 분석 과정을 보여줍니다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959456"/>
                  </a:ext>
                </a:extLst>
              </a:tr>
            </a:tbl>
          </a:graphicData>
        </a:graphic>
      </p:graphicFrame>
      <p:grpSp>
        <p:nvGrpSpPr>
          <p:cNvPr id="18" name="그룹 17">
            <a:extLst>
              <a:ext uri="{FF2B5EF4-FFF2-40B4-BE49-F238E27FC236}">
                <a16:creationId xmlns:a16="http://schemas.microsoft.com/office/drawing/2014/main" id="{C9114C26-DFBE-4A00-B2F7-6F49AD6E2190}"/>
              </a:ext>
            </a:extLst>
          </p:cNvPr>
          <p:cNvGrpSpPr/>
          <p:nvPr/>
        </p:nvGrpSpPr>
        <p:grpSpPr>
          <a:xfrm>
            <a:off x="1540934" y="1204535"/>
            <a:ext cx="5813824" cy="4974872"/>
            <a:chOff x="-6680772" y="885524"/>
            <a:chExt cx="10859428" cy="1039528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07F1B0D-09A7-4B3C-970D-AFB428FA6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26180" y="1824354"/>
              <a:ext cx="452476" cy="1518920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EF617CBA-B9AD-4487-9FAE-6ACC2F43D3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8502" r="1033" b="18797"/>
            <a:stretch/>
          </p:blipFill>
          <p:spPr>
            <a:xfrm>
              <a:off x="-6680772" y="885524"/>
              <a:ext cx="10859428" cy="4985888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26C2A0BB-403C-46F1-B459-082A8CE33C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7155" r="1033" b="4463"/>
            <a:stretch/>
          </p:blipFill>
          <p:spPr>
            <a:xfrm>
              <a:off x="-6680772" y="5871412"/>
              <a:ext cx="10859428" cy="5409399"/>
            </a:xfrm>
            <a:prstGeom prst="rect">
              <a:avLst/>
            </a:prstGeom>
          </p:spPr>
        </p:pic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8858E32-D06E-492B-B200-772BCEC79313}"/>
              </a:ext>
            </a:extLst>
          </p:cNvPr>
          <p:cNvGrpSpPr/>
          <p:nvPr/>
        </p:nvGrpSpPr>
        <p:grpSpPr>
          <a:xfrm>
            <a:off x="1540934" y="1680262"/>
            <a:ext cx="5813824" cy="3877019"/>
            <a:chOff x="-19096896" y="-1538856"/>
            <a:chExt cx="10861924" cy="863981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FFEFA87-7E63-42DF-BC10-823DA099D3F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21363" r="1010" b="19531"/>
            <a:stretch/>
          </p:blipFill>
          <p:spPr>
            <a:xfrm>
              <a:off x="-19096896" y="-1538856"/>
              <a:ext cx="10861924" cy="4053573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56D67CAF-F90B-413A-BD53-C52754F296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8842" r="1010" b="24284"/>
            <a:stretch/>
          </p:blipFill>
          <p:spPr>
            <a:xfrm>
              <a:off x="-19096896" y="2514717"/>
              <a:ext cx="10861924" cy="4586240"/>
            </a:xfrm>
            <a:prstGeom prst="rect">
              <a:avLst/>
            </a:prstGeom>
          </p:spPr>
        </p:pic>
      </p:grpSp>
      <p:pic>
        <p:nvPicPr>
          <p:cNvPr id="20" name="Picture 4" descr="1 번">
            <a:extLst>
              <a:ext uri="{FF2B5EF4-FFF2-40B4-BE49-F238E27FC236}">
                <a16:creationId xmlns:a16="http://schemas.microsoft.com/office/drawing/2014/main" id="{EE789571-FC1E-4136-AEB6-64EF92836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9948" y="1697823"/>
            <a:ext cx="257978" cy="25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 descr="2 번">
            <a:extLst>
              <a:ext uri="{FF2B5EF4-FFF2-40B4-BE49-F238E27FC236}">
                <a16:creationId xmlns:a16="http://schemas.microsoft.com/office/drawing/2014/main" id="{92860F1F-0A9D-448C-86A3-9EB2A44CC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7140" y="2248163"/>
            <a:ext cx="265154" cy="265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8" descr="3 번">
            <a:extLst>
              <a:ext uri="{FF2B5EF4-FFF2-40B4-BE49-F238E27FC236}">
                <a16:creationId xmlns:a16="http://schemas.microsoft.com/office/drawing/2014/main" id="{63D36100-C811-4511-9ED1-39774A46E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170" y="3536604"/>
            <a:ext cx="251812" cy="25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9228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6">
            <a:extLst>
              <a:ext uri="{FF2B5EF4-FFF2-40B4-BE49-F238E27FC236}">
                <a16:creationId xmlns:a16="http://schemas.microsoft.com/office/drawing/2014/main" id="{67499F47-C54B-4852-94D6-83575F671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859604"/>
              </p:ext>
            </p:extLst>
          </p:nvPr>
        </p:nvGraphicFramePr>
        <p:xfrm>
          <a:off x="612969" y="117091"/>
          <a:ext cx="1139561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295">
                  <a:extLst>
                    <a:ext uri="{9D8B030D-6E8A-4147-A177-3AD203B41FA5}">
                      <a16:colId xmlns:a16="http://schemas.microsoft.com/office/drawing/2014/main" val="2232611455"/>
                    </a:ext>
                  </a:extLst>
                </a:gridCol>
                <a:gridCol w="3340004">
                  <a:extLst>
                    <a:ext uri="{9D8B030D-6E8A-4147-A177-3AD203B41FA5}">
                      <a16:colId xmlns:a16="http://schemas.microsoft.com/office/drawing/2014/main" val="4198319941"/>
                    </a:ext>
                  </a:extLst>
                </a:gridCol>
                <a:gridCol w="1880681">
                  <a:extLst>
                    <a:ext uri="{9D8B030D-6E8A-4147-A177-3AD203B41FA5}">
                      <a16:colId xmlns:a16="http://schemas.microsoft.com/office/drawing/2014/main" val="2530664953"/>
                    </a:ext>
                  </a:extLst>
                </a:gridCol>
                <a:gridCol w="4148631">
                  <a:extLst>
                    <a:ext uri="{9D8B030D-6E8A-4147-A177-3AD203B41FA5}">
                      <a16:colId xmlns:a16="http://schemas.microsoft.com/office/drawing/2014/main" val="132137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TITLE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LSD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전파 예측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  &gt;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감염률 비교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page number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778344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9E211225-30B5-4EF3-AF87-D6226AF9C88D}"/>
              </a:ext>
            </a:extLst>
          </p:cNvPr>
          <p:cNvSpPr/>
          <p:nvPr/>
        </p:nvSpPr>
        <p:spPr>
          <a:xfrm>
            <a:off x="612970" y="623124"/>
            <a:ext cx="7259949" cy="59981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9B1C99-4BB8-4CE7-AAFA-3290F517DCCE}"/>
              </a:ext>
            </a:extLst>
          </p:cNvPr>
          <p:cNvSpPr txBox="1"/>
          <p:nvPr/>
        </p:nvSpPr>
        <p:spPr>
          <a:xfrm>
            <a:off x="1356626" y="678593"/>
            <a:ext cx="3647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경로</a:t>
            </a:r>
            <a:r>
              <a:rPr lang="en-US" altLang="ko-KR" sz="1200" b="1" dirty="0"/>
              <a:t>: /infection_rate</a:t>
            </a:r>
            <a:endParaRPr lang="ko-KR" altLang="en-US" sz="1200" b="1" dirty="0"/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8E8DACEB-994C-4DB5-B8E8-7EE3CBE33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742933"/>
              </p:ext>
            </p:extLst>
          </p:nvPr>
        </p:nvGraphicFramePr>
        <p:xfrm>
          <a:off x="8032090" y="619715"/>
          <a:ext cx="3976490" cy="6001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6452">
                  <a:extLst>
                    <a:ext uri="{9D8B030D-6E8A-4147-A177-3AD203B41FA5}">
                      <a16:colId xmlns:a16="http://schemas.microsoft.com/office/drawing/2014/main" val="360676869"/>
                    </a:ext>
                  </a:extLst>
                </a:gridCol>
                <a:gridCol w="3290038">
                  <a:extLst>
                    <a:ext uri="{9D8B030D-6E8A-4147-A177-3AD203B41FA5}">
                      <a16:colId xmlns:a16="http://schemas.microsoft.com/office/drawing/2014/main" val="2786339036"/>
                    </a:ext>
                  </a:extLst>
                </a:gridCol>
              </a:tblGrid>
              <a:tr h="345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No.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89784"/>
                  </a:ext>
                </a:extLst>
              </a:tr>
              <a:tr h="21759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&lt;Drop-down / Button&gt;</a:t>
                      </a:r>
                    </a:p>
                    <a:p>
                      <a:pPr algn="just" latinLnBrk="1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그래프로 날짜를 선택하면 해당 날짜의 충청남도 전체 시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군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구 그래프를 보여줍니다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분석결과 보기를 누르면 선택한 드롭 다운의 결과 그래프가 나옵니다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어떤 페이지를 이용중인지 좌측 버튼을 통해 알 수 있습니다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03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535708"/>
                  </a:ext>
                </a:extLst>
              </a:tr>
              <a:tr h="25347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그래프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페이지 로딩 시 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2025 7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월 서산시의 그래프가 고정 값으로 보여집니다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/>
                        <a:t>각 그래프 점에 마우스를 올리면 해당 값에 대한 상세 정보가 툴팁으로 표시됩니다</a:t>
                      </a:r>
                      <a:r>
                        <a:rPr lang="en-US" altLang="ko-KR" sz="1000" dirty="0"/>
                        <a:t>.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그래프는 애니메이션 효과로 등장합니다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844494"/>
                  </a:ext>
                </a:extLst>
              </a:tr>
              <a:tr h="9247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분석 과정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그래프에 대한 해당 분석 과정을 보여줍니다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959456"/>
                  </a:ext>
                </a:extLst>
              </a:tr>
            </a:tbl>
          </a:graphicData>
        </a:graphic>
      </p:graphicFrame>
      <p:grpSp>
        <p:nvGrpSpPr>
          <p:cNvPr id="18" name="그룹 17">
            <a:extLst>
              <a:ext uri="{FF2B5EF4-FFF2-40B4-BE49-F238E27FC236}">
                <a16:creationId xmlns:a16="http://schemas.microsoft.com/office/drawing/2014/main" id="{C9114C26-DFBE-4A00-B2F7-6F49AD6E2190}"/>
              </a:ext>
            </a:extLst>
          </p:cNvPr>
          <p:cNvGrpSpPr/>
          <p:nvPr/>
        </p:nvGrpSpPr>
        <p:grpSpPr>
          <a:xfrm>
            <a:off x="1540934" y="1204535"/>
            <a:ext cx="5813824" cy="4974872"/>
            <a:chOff x="-6680772" y="885524"/>
            <a:chExt cx="10859428" cy="1039528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07F1B0D-09A7-4B3C-970D-AFB428FA6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26180" y="1824354"/>
              <a:ext cx="452476" cy="1518920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EF617CBA-B9AD-4487-9FAE-6ACC2F43D3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8502" r="1033" b="18797"/>
            <a:stretch/>
          </p:blipFill>
          <p:spPr>
            <a:xfrm>
              <a:off x="-6680772" y="885524"/>
              <a:ext cx="10859428" cy="4985888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26C2A0BB-403C-46F1-B459-082A8CE33C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7155" r="1033" b="4463"/>
            <a:stretch/>
          </p:blipFill>
          <p:spPr>
            <a:xfrm>
              <a:off x="-6680772" y="5871412"/>
              <a:ext cx="10859428" cy="5409399"/>
            </a:xfrm>
            <a:prstGeom prst="rect">
              <a:avLst/>
            </a:prstGeom>
          </p:spPr>
        </p:pic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80A9948-8B94-453C-BF1C-1BA3D8A2368C}"/>
              </a:ext>
            </a:extLst>
          </p:cNvPr>
          <p:cNvGrpSpPr/>
          <p:nvPr/>
        </p:nvGrpSpPr>
        <p:grpSpPr>
          <a:xfrm>
            <a:off x="1546578" y="1653179"/>
            <a:ext cx="5808180" cy="3917888"/>
            <a:chOff x="-11195518" y="-2040468"/>
            <a:chExt cx="10899185" cy="756920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A4778FE9-15E7-45FA-A388-8142942D23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21349" r="671" b="23465"/>
            <a:stretch/>
          </p:blipFill>
          <p:spPr>
            <a:xfrm>
              <a:off x="-11195518" y="-2040468"/>
              <a:ext cx="10899185" cy="3784601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4604C8A9-CD44-4347-B63F-B35A59A998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21998" r="671" b="22817"/>
            <a:stretch/>
          </p:blipFill>
          <p:spPr>
            <a:xfrm>
              <a:off x="-11195518" y="1744133"/>
              <a:ext cx="10899185" cy="3784602"/>
            </a:xfrm>
            <a:prstGeom prst="rect">
              <a:avLst/>
            </a:prstGeom>
          </p:spPr>
        </p:pic>
      </p:grpSp>
      <p:pic>
        <p:nvPicPr>
          <p:cNvPr id="20" name="Picture 4" descr="1 번">
            <a:extLst>
              <a:ext uri="{FF2B5EF4-FFF2-40B4-BE49-F238E27FC236}">
                <a16:creationId xmlns:a16="http://schemas.microsoft.com/office/drawing/2014/main" id="{520416FC-41EF-4D91-8F32-7A4E69694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9948" y="1697823"/>
            <a:ext cx="257978" cy="25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 descr="2 번">
            <a:extLst>
              <a:ext uri="{FF2B5EF4-FFF2-40B4-BE49-F238E27FC236}">
                <a16:creationId xmlns:a16="http://schemas.microsoft.com/office/drawing/2014/main" id="{4F961CE3-76C0-4888-BEA4-798B1A6E6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7140" y="2248163"/>
            <a:ext cx="265154" cy="265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8" descr="3 번">
            <a:extLst>
              <a:ext uri="{FF2B5EF4-FFF2-40B4-BE49-F238E27FC236}">
                <a16:creationId xmlns:a16="http://schemas.microsoft.com/office/drawing/2014/main" id="{8B0AD3B5-C45F-4EBE-8E94-2D45E1FD8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170" y="3536604"/>
            <a:ext cx="251812" cy="25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6016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6">
            <a:extLst>
              <a:ext uri="{FF2B5EF4-FFF2-40B4-BE49-F238E27FC236}">
                <a16:creationId xmlns:a16="http://schemas.microsoft.com/office/drawing/2014/main" id="{67499F47-C54B-4852-94D6-83575F671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679418"/>
              </p:ext>
            </p:extLst>
          </p:nvPr>
        </p:nvGraphicFramePr>
        <p:xfrm>
          <a:off x="612969" y="117091"/>
          <a:ext cx="1139561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295">
                  <a:extLst>
                    <a:ext uri="{9D8B030D-6E8A-4147-A177-3AD203B41FA5}">
                      <a16:colId xmlns:a16="http://schemas.microsoft.com/office/drawing/2014/main" val="2232611455"/>
                    </a:ext>
                  </a:extLst>
                </a:gridCol>
                <a:gridCol w="3340004">
                  <a:extLst>
                    <a:ext uri="{9D8B030D-6E8A-4147-A177-3AD203B41FA5}">
                      <a16:colId xmlns:a16="http://schemas.microsoft.com/office/drawing/2014/main" val="4198319941"/>
                    </a:ext>
                  </a:extLst>
                </a:gridCol>
                <a:gridCol w="1880681">
                  <a:extLst>
                    <a:ext uri="{9D8B030D-6E8A-4147-A177-3AD203B41FA5}">
                      <a16:colId xmlns:a16="http://schemas.microsoft.com/office/drawing/2014/main" val="2530664953"/>
                    </a:ext>
                  </a:extLst>
                </a:gridCol>
                <a:gridCol w="4148631">
                  <a:extLst>
                    <a:ext uri="{9D8B030D-6E8A-4147-A177-3AD203B41FA5}">
                      <a16:colId xmlns:a16="http://schemas.microsoft.com/office/drawing/2014/main" val="132137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TITLE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LSD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전파 예측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  &gt;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위험도 지수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page number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08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778344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9E211225-30B5-4EF3-AF87-D6226AF9C88D}"/>
              </a:ext>
            </a:extLst>
          </p:cNvPr>
          <p:cNvSpPr/>
          <p:nvPr/>
        </p:nvSpPr>
        <p:spPr>
          <a:xfrm>
            <a:off x="612970" y="623124"/>
            <a:ext cx="7259949" cy="59981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9B1C99-4BB8-4CE7-AAFA-3290F517DCCE}"/>
              </a:ext>
            </a:extLst>
          </p:cNvPr>
          <p:cNvSpPr txBox="1"/>
          <p:nvPr/>
        </p:nvSpPr>
        <p:spPr>
          <a:xfrm>
            <a:off x="1356626" y="678593"/>
            <a:ext cx="3647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경로</a:t>
            </a:r>
            <a:r>
              <a:rPr lang="en-US" altLang="ko-KR" sz="1200" b="1" dirty="0"/>
              <a:t>: /</a:t>
            </a:r>
            <a:r>
              <a:rPr lang="en-US" altLang="ko-KR" sz="1200" b="1" dirty="0" err="1"/>
              <a:t>risk_index</a:t>
            </a:r>
            <a:endParaRPr lang="ko-KR" altLang="en-US" sz="1200" b="1" dirty="0"/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8E8DACEB-994C-4DB5-B8E8-7EE3CBE33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432237"/>
              </p:ext>
            </p:extLst>
          </p:nvPr>
        </p:nvGraphicFramePr>
        <p:xfrm>
          <a:off x="8032090" y="619715"/>
          <a:ext cx="3976490" cy="6003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6452">
                  <a:extLst>
                    <a:ext uri="{9D8B030D-6E8A-4147-A177-3AD203B41FA5}">
                      <a16:colId xmlns:a16="http://schemas.microsoft.com/office/drawing/2014/main" val="360676869"/>
                    </a:ext>
                  </a:extLst>
                </a:gridCol>
                <a:gridCol w="3290038">
                  <a:extLst>
                    <a:ext uri="{9D8B030D-6E8A-4147-A177-3AD203B41FA5}">
                      <a16:colId xmlns:a16="http://schemas.microsoft.com/office/drawing/2014/main" val="2786339036"/>
                    </a:ext>
                  </a:extLst>
                </a:gridCol>
              </a:tblGrid>
              <a:tr h="345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No.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89784"/>
                  </a:ext>
                </a:extLst>
              </a:tr>
              <a:tr h="21759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&lt;Drop-down / Button&gt;</a:t>
                      </a:r>
                    </a:p>
                    <a:p>
                      <a:pPr algn="just" latinLnBrk="1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그래프로 날짜와 위치를 선택하면 해당 드롭 다운에 맞는 그래프 결과를 보여줍니다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분석결과 보기를 누르면 선택한 드롭 다운의 결과 그래프가 나옵니다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어떤 페이지를 이용중인지 좌측 버튼을 통해 알 수 있습니다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03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03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535708"/>
                  </a:ext>
                </a:extLst>
              </a:tr>
              <a:tr h="25347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그래프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페이지 로딩 시 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2025 7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월 서산시의 그래프가 고정 값으로 보여집니다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/>
                        <a:t>각 그래프 점에 마우스를 올리면 해당 값에 대한 상세 정보가 툴팁으로 표시됩니다</a:t>
                      </a:r>
                      <a:r>
                        <a:rPr lang="en-US" altLang="ko-KR" sz="1000" dirty="0"/>
                        <a:t>.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그래프는 애니메이션 효과로 등장합니다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844494"/>
                  </a:ext>
                </a:extLst>
              </a:tr>
              <a:tr h="731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분석 과정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그래프에 대한 해당 분석 과정을 보여줍니다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959456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A191D9AF-C392-493B-BF39-45B19E7B62C4}"/>
              </a:ext>
            </a:extLst>
          </p:cNvPr>
          <p:cNvGrpSpPr/>
          <p:nvPr/>
        </p:nvGrpSpPr>
        <p:grpSpPr>
          <a:xfrm>
            <a:off x="1409701" y="1655362"/>
            <a:ext cx="5813824" cy="3547275"/>
            <a:chOff x="1530351" y="1785051"/>
            <a:chExt cx="5813824" cy="3547275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EF617CBA-B9AD-4487-9FAE-6ACC2F43D3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8502" r="1033" b="76468"/>
            <a:stretch/>
          </p:blipFill>
          <p:spPr>
            <a:xfrm>
              <a:off x="1530351" y="1785051"/>
              <a:ext cx="5813824" cy="493287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26C2A0BB-403C-46F1-B459-082A8CE33C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77269" r="1033" b="4463"/>
            <a:stretch/>
          </p:blipFill>
          <p:spPr>
            <a:xfrm>
              <a:off x="1530351" y="4728996"/>
              <a:ext cx="5813824" cy="603330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2DD7E65-BD37-47C7-944E-E001637385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2412" r="695" b="9895"/>
            <a:stretch/>
          </p:blipFill>
          <p:spPr>
            <a:xfrm>
              <a:off x="1530351" y="2252065"/>
              <a:ext cx="5813824" cy="2476931"/>
            </a:xfrm>
            <a:prstGeom prst="rect">
              <a:avLst/>
            </a:prstGeom>
          </p:spPr>
        </p:pic>
      </p:grpSp>
      <p:pic>
        <p:nvPicPr>
          <p:cNvPr id="16" name="Picture 4" descr="1 번">
            <a:extLst>
              <a:ext uri="{FF2B5EF4-FFF2-40B4-BE49-F238E27FC236}">
                <a16:creationId xmlns:a16="http://schemas.microsoft.com/office/drawing/2014/main" id="{CC386B3F-E3DA-480C-ADB0-09B48EC6F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7548" y="2192336"/>
            <a:ext cx="257978" cy="25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 descr="2 번">
            <a:extLst>
              <a:ext uri="{FF2B5EF4-FFF2-40B4-BE49-F238E27FC236}">
                <a16:creationId xmlns:a16="http://schemas.microsoft.com/office/drawing/2014/main" id="{8F460DF9-56D2-4AF9-ACAE-FC09BAE41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5490" y="2512295"/>
            <a:ext cx="265154" cy="265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 descr="3 번">
            <a:extLst>
              <a:ext uri="{FF2B5EF4-FFF2-40B4-BE49-F238E27FC236}">
                <a16:creationId xmlns:a16="http://schemas.microsoft.com/office/drawing/2014/main" id="{6D31F82F-7844-4662-8767-FC4A698D6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4621" y="2363851"/>
            <a:ext cx="251812" cy="25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9276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6">
            <a:extLst>
              <a:ext uri="{FF2B5EF4-FFF2-40B4-BE49-F238E27FC236}">
                <a16:creationId xmlns:a16="http://schemas.microsoft.com/office/drawing/2014/main" id="{67499F47-C54B-4852-94D6-83575F671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590523"/>
              </p:ext>
            </p:extLst>
          </p:nvPr>
        </p:nvGraphicFramePr>
        <p:xfrm>
          <a:off x="612969" y="117091"/>
          <a:ext cx="1139561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295">
                  <a:extLst>
                    <a:ext uri="{9D8B030D-6E8A-4147-A177-3AD203B41FA5}">
                      <a16:colId xmlns:a16="http://schemas.microsoft.com/office/drawing/2014/main" val="2232611455"/>
                    </a:ext>
                  </a:extLst>
                </a:gridCol>
                <a:gridCol w="3340004">
                  <a:extLst>
                    <a:ext uri="{9D8B030D-6E8A-4147-A177-3AD203B41FA5}">
                      <a16:colId xmlns:a16="http://schemas.microsoft.com/office/drawing/2014/main" val="4198319941"/>
                    </a:ext>
                  </a:extLst>
                </a:gridCol>
                <a:gridCol w="1880681">
                  <a:extLst>
                    <a:ext uri="{9D8B030D-6E8A-4147-A177-3AD203B41FA5}">
                      <a16:colId xmlns:a16="http://schemas.microsoft.com/office/drawing/2014/main" val="2530664953"/>
                    </a:ext>
                  </a:extLst>
                </a:gridCol>
                <a:gridCol w="4148631">
                  <a:extLst>
                    <a:ext uri="{9D8B030D-6E8A-4147-A177-3AD203B41FA5}">
                      <a16:colId xmlns:a16="http://schemas.microsoft.com/office/drawing/2014/main" val="132137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TITLE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LSD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전파 예측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  &gt;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초기확산 속도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page number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09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778344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9E211225-30B5-4EF3-AF87-D6226AF9C88D}"/>
              </a:ext>
            </a:extLst>
          </p:cNvPr>
          <p:cNvSpPr/>
          <p:nvPr/>
        </p:nvSpPr>
        <p:spPr>
          <a:xfrm>
            <a:off x="612970" y="623124"/>
            <a:ext cx="7259949" cy="59981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9B1C99-4BB8-4CE7-AAFA-3290F517DCCE}"/>
              </a:ext>
            </a:extLst>
          </p:cNvPr>
          <p:cNvSpPr txBox="1"/>
          <p:nvPr/>
        </p:nvSpPr>
        <p:spPr>
          <a:xfrm>
            <a:off x="1356626" y="678593"/>
            <a:ext cx="3647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경로</a:t>
            </a:r>
            <a:r>
              <a:rPr lang="en-US" altLang="ko-KR" sz="1200" b="1" dirty="0"/>
              <a:t>: /speed</a:t>
            </a:r>
            <a:endParaRPr lang="ko-KR" altLang="en-US" sz="1200" b="1" dirty="0"/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8E8DACEB-994C-4DB5-B8E8-7EE3CBE33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458801"/>
              </p:ext>
            </p:extLst>
          </p:nvPr>
        </p:nvGraphicFramePr>
        <p:xfrm>
          <a:off x="8032090" y="619715"/>
          <a:ext cx="3976490" cy="6003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6452">
                  <a:extLst>
                    <a:ext uri="{9D8B030D-6E8A-4147-A177-3AD203B41FA5}">
                      <a16:colId xmlns:a16="http://schemas.microsoft.com/office/drawing/2014/main" val="360676869"/>
                    </a:ext>
                  </a:extLst>
                </a:gridCol>
                <a:gridCol w="3290038">
                  <a:extLst>
                    <a:ext uri="{9D8B030D-6E8A-4147-A177-3AD203B41FA5}">
                      <a16:colId xmlns:a16="http://schemas.microsoft.com/office/drawing/2014/main" val="2786339036"/>
                    </a:ext>
                  </a:extLst>
                </a:gridCol>
              </a:tblGrid>
              <a:tr h="345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No.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89784"/>
                  </a:ext>
                </a:extLst>
              </a:tr>
              <a:tr h="21759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&lt;Drop-down / Button&gt;</a:t>
                      </a:r>
                    </a:p>
                    <a:p>
                      <a:pPr algn="just" latinLnBrk="1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그래프로 날짜와 위치를 선택하면 해당 드롭 다운에 맞는 그래프 결과를 보여줍니다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분석결과 보기를 누르면 선택한 드롭 다운의 결과 그래프가 나옵니다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어떤 페이지를 이용중인지 좌측 버튼을 통해 알 수 있습니다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030" b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03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535708"/>
                  </a:ext>
                </a:extLst>
              </a:tr>
              <a:tr h="25347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그래프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페이지 로딩 시 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2025 7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월 서산시의 그래프가 고정 값으로 보여집니다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marR="0" lvl="0" indent="-17145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/>
                        <a:t>각 그래프 점에 마우스를 올리면 해당 값에 대한 상세 정보가 툴팁으로 표시됩니다</a:t>
                      </a:r>
                      <a:r>
                        <a:rPr lang="en-US" altLang="ko-KR" sz="1000" dirty="0"/>
                        <a:t>.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그래프는 애니메이션 효과로 등장합니다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그래프의 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축은 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0~100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 시간을 보여줍니다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844494"/>
                  </a:ext>
                </a:extLst>
              </a:tr>
              <a:tr h="7313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분석 과정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그래프에 대한 해당 분석 과정을 보여줍니다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959456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EF617CBA-B9AD-4487-9FAE-6ACC2F43D3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502" r="1033" b="76468"/>
          <a:stretch/>
        </p:blipFill>
        <p:spPr>
          <a:xfrm>
            <a:off x="1502834" y="1333628"/>
            <a:ext cx="5813824" cy="49328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26C2A0BB-403C-46F1-B459-082A8CE33C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7269" r="1033" b="4463"/>
          <a:stretch/>
        </p:blipFill>
        <p:spPr>
          <a:xfrm>
            <a:off x="1502834" y="5473819"/>
            <a:ext cx="5813824" cy="603330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85AE52C3-6954-4714-BC7D-D97BE1A6BA97}"/>
              </a:ext>
            </a:extLst>
          </p:cNvPr>
          <p:cNvGrpSpPr/>
          <p:nvPr/>
        </p:nvGrpSpPr>
        <p:grpSpPr>
          <a:xfrm>
            <a:off x="1502834" y="1767170"/>
            <a:ext cx="5813824" cy="3706649"/>
            <a:chOff x="-11791950" y="2148649"/>
            <a:chExt cx="10769600" cy="705563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2E1F3ED-B347-447A-8090-1DA266B578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1852" r="1852" b="22963"/>
            <a:stretch/>
          </p:blipFill>
          <p:spPr>
            <a:xfrm>
              <a:off x="-11791950" y="2148649"/>
              <a:ext cx="10769600" cy="3784600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75DAF7D-4427-4A2D-AA39-5544D1CBEF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40741" r="1852" b="11563"/>
            <a:stretch/>
          </p:blipFill>
          <p:spPr>
            <a:xfrm>
              <a:off x="-11791950" y="5933249"/>
              <a:ext cx="10769600" cy="3271033"/>
            </a:xfrm>
            <a:prstGeom prst="rect">
              <a:avLst/>
            </a:prstGeom>
          </p:spPr>
        </p:pic>
      </p:grpSp>
      <p:pic>
        <p:nvPicPr>
          <p:cNvPr id="15" name="Picture 4" descr="1 번">
            <a:extLst>
              <a:ext uri="{FF2B5EF4-FFF2-40B4-BE49-F238E27FC236}">
                <a16:creationId xmlns:a16="http://schemas.microsoft.com/office/drawing/2014/main" id="{BABD52D5-B044-4344-A574-970D53D70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898" y="1870602"/>
            <a:ext cx="257978" cy="25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2 번">
            <a:extLst>
              <a:ext uri="{FF2B5EF4-FFF2-40B4-BE49-F238E27FC236}">
                <a16:creationId xmlns:a16="http://schemas.microsoft.com/office/drawing/2014/main" id="{B50519D2-C587-4801-A6B2-69C86E9F3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990" y="2260457"/>
            <a:ext cx="265154" cy="265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8" descr="3 번">
            <a:extLst>
              <a:ext uri="{FF2B5EF4-FFF2-40B4-BE49-F238E27FC236}">
                <a16:creationId xmlns:a16="http://schemas.microsoft.com/office/drawing/2014/main" id="{C0623CD6-FC1B-4A35-AE5E-AC196ACEE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2921" y="3890588"/>
            <a:ext cx="251812" cy="25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224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6">
            <a:extLst>
              <a:ext uri="{FF2B5EF4-FFF2-40B4-BE49-F238E27FC236}">
                <a16:creationId xmlns:a16="http://schemas.microsoft.com/office/drawing/2014/main" id="{67499F47-C54B-4852-94D6-83575F671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043323"/>
              </p:ext>
            </p:extLst>
          </p:nvPr>
        </p:nvGraphicFramePr>
        <p:xfrm>
          <a:off x="612969" y="117091"/>
          <a:ext cx="1139561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295">
                  <a:extLst>
                    <a:ext uri="{9D8B030D-6E8A-4147-A177-3AD203B41FA5}">
                      <a16:colId xmlns:a16="http://schemas.microsoft.com/office/drawing/2014/main" val="2232611455"/>
                    </a:ext>
                  </a:extLst>
                </a:gridCol>
                <a:gridCol w="3340004">
                  <a:extLst>
                    <a:ext uri="{9D8B030D-6E8A-4147-A177-3AD203B41FA5}">
                      <a16:colId xmlns:a16="http://schemas.microsoft.com/office/drawing/2014/main" val="4198319941"/>
                    </a:ext>
                  </a:extLst>
                </a:gridCol>
                <a:gridCol w="1880681">
                  <a:extLst>
                    <a:ext uri="{9D8B030D-6E8A-4147-A177-3AD203B41FA5}">
                      <a16:colId xmlns:a16="http://schemas.microsoft.com/office/drawing/2014/main" val="2530664953"/>
                    </a:ext>
                  </a:extLst>
                </a:gridCol>
                <a:gridCol w="4148631">
                  <a:extLst>
                    <a:ext uri="{9D8B030D-6E8A-4147-A177-3AD203B41FA5}">
                      <a16:colId xmlns:a16="http://schemas.microsoft.com/office/drawing/2014/main" val="132137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TITLE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Risk-check &gt;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방역 시설 정보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page number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778344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9E211225-30B5-4EF3-AF87-D6226AF9C88D}"/>
              </a:ext>
            </a:extLst>
          </p:cNvPr>
          <p:cNvSpPr/>
          <p:nvPr/>
        </p:nvSpPr>
        <p:spPr>
          <a:xfrm>
            <a:off x="612970" y="623124"/>
            <a:ext cx="7259949" cy="59981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9B1C99-4BB8-4CE7-AAFA-3290F517DCCE}"/>
              </a:ext>
            </a:extLst>
          </p:cNvPr>
          <p:cNvSpPr txBox="1"/>
          <p:nvPr/>
        </p:nvSpPr>
        <p:spPr>
          <a:xfrm>
            <a:off x="1356626" y="678593"/>
            <a:ext cx="3647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경로</a:t>
            </a:r>
            <a:r>
              <a:rPr lang="en-US" altLang="ko-KR" sz="1200" b="1" dirty="0"/>
              <a:t>: /map</a:t>
            </a:r>
            <a:endParaRPr lang="ko-KR" altLang="en-US" sz="1200" b="1" dirty="0"/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8E8DACEB-994C-4DB5-B8E8-7EE3CBE33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188885"/>
              </p:ext>
            </p:extLst>
          </p:nvPr>
        </p:nvGraphicFramePr>
        <p:xfrm>
          <a:off x="8032090" y="619715"/>
          <a:ext cx="3976490" cy="4251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6452">
                  <a:extLst>
                    <a:ext uri="{9D8B030D-6E8A-4147-A177-3AD203B41FA5}">
                      <a16:colId xmlns:a16="http://schemas.microsoft.com/office/drawing/2014/main" val="360676869"/>
                    </a:ext>
                  </a:extLst>
                </a:gridCol>
                <a:gridCol w="3290038">
                  <a:extLst>
                    <a:ext uri="{9D8B030D-6E8A-4147-A177-3AD203B41FA5}">
                      <a16:colId xmlns:a16="http://schemas.microsoft.com/office/drawing/2014/main" val="2786339036"/>
                    </a:ext>
                  </a:extLst>
                </a:gridCol>
              </a:tblGrid>
              <a:tr h="345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No.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89784"/>
                  </a:ext>
                </a:extLst>
              </a:tr>
              <a:tr h="13513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&lt;Kakao map&gt;</a:t>
                      </a:r>
                    </a:p>
                    <a:p>
                      <a:pPr algn="just" latinLnBrk="1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dirty="0"/>
                        <a:t>드롭다운에서 지역을 선택하면 해당 지역의 지도가 카카오맵으로 표시됩니다</a:t>
                      </a:r>
                      <a:r>
                        <a:rPr lang="en-US" altLang="ko-KR" sz="1050" dirty="0"/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해당 지도는 최대 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</a:rPr>
                        <a:t>20m</a:t>
                      </a:r>
                      <a:r>
                        <a:rPr lang="ko-KR" altLang="en-US" sz="1050" b="0" dirty="0">
                          <a:solidFill>
                            <a:schemeClr val="tx1"/>
                          </a:solidFill>
                        </a:rPr>
                        <a:t>까지 확대 할 수 있습니다</a:t>
                      </a:r>
                      <a:r>
                        <a:rPr lang="en-US" altLang="ko-KR" sz="105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03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535708"/>
                  </a:ext>
                </a:extLst>
              </a:tr>
              <a:tr h="25347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소독소 안내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선택한 지역과 제일 가까운 지역의 소독소 정보를 화면에 보여줍니다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소독소 정보는 위치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이름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영업 시간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예상 혼잡도를 보여줍니다</a:t>
                      </a:r>
                      <a:r>
                        <a:rPr lang="en-US" altLang="ko-KR" sz="1000" dirty="0"/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사용자가 선택하지 않을 시 상세 정보를 제공하지 않습니다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844494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EF617CBA-B9AD-4487-9FAE-6ACC2F43D3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502" r="1033" b="76468"/>
          <a:stretch/>
        </p:blipFill>
        <p:spPr>
          <a:xfrm>
            <a:off x="1428952" y="1434402"/>
            <a:ext cx="5690854" cy="47711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26C2A0BB-403C-46F1-B459-082A8CE33C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7269" r="1033" b="4463"/>
          <a:stretch/>
        </p:blipFill>
        <p:spPr>
          <a:xfrm>
            <a:off x="1496578" y="4032899"/>
            <a:ext cx="5623229" cy="58355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BC3E52A-219C-4602-A22D-0D4DEBD5EFD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" t="21852" r="636" b="18148"/>
          <a:stretch/>
        </p:blipFill>
        <p:spPr>
          <a:xfrm>
            <a:off x="1428952" y="1911518"/>
            <a:ext cx="5690855" cy="2121381"/>
          </a:xfrm>
          <a:prstGeom prst="rect">
            <a:avLst/>
          </a:prstGeom>
        </p:spPr>
      </p:pic>
      <p:pic>
        <p:nvPicPr>
          <p:cNvPr id="13" name="Picture 4" descr="1 번">
            <a:extLst>
              <a:ext uri="{FF2B5EF4-FFF2-40B4-BE49-F238E27FC236}">
                <a16:creationId xmlns:a16="http://schemas.microsoft.com/office/drawing/2014/main" id="{49DF3794-BCB6-4A34-B9F0-2D31787A2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626" y="2696112"/>
            <a:ext cx="257978" cy="25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2 번">
            <a:extLst>
              <a:ext uri="{FF2B5EF4-FFF2-40B4-BE49-F238E27FC236}">
                <a16:creationId xmlns:a16="http://schemas.microsoft.com/office/drawing/2014/main" id="{EDCC4B58-EF45-49DB-ABF2-6F0E486CC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1040" y="2839631"/>
            <a:ext cx="265154" cy="265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6547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6">
            <a:extLst>
              <a:ext uri="{FF2B5EF4-FFF2-40B4-BE49-F238E27FC236}">
                <a16:creationId xmlns:a16="http://schemas.microsoft.com/office/drawing/2014/main" id="{67499F47-C54B-4852-94D6-83575F671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471059"/>
              </p:ext>
            </p:extLst>
          </p:nvPr>
        </p:nvGraphicFramePr>
        <p:xfrm>
          <a:off x="612969" y="117091"/>
          <a:ext cx="1139561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295">
                  <a:extLst>
                    <a:ext uri="{9D8B030D-6E8A-4147-A177-3AD203B41FA5}">
                      <a16:colId xmlns:a16="http://schemas.microsoft.com/office/drawing/2014/main" val="2232611455"/>
                    </a:ext>
                  </a:extLst>
                </a:gridCol>
                <a:gridCol w="3340004">
                  <a:extLst>
                    <a:ext uri="{9D8B030D-6E8A-4147-A177-3AD203B41FA5}">
                      <a16:colId xmlns:a16="http://schemas.microsoft.com/office/drawing/2014/main" val="4198319941"/>
                    </a:ext>
                  </a:extLst>
                </a:gridCol>
                <a:gridCol w="1880681">
                  <a:extLst>
                    <a:ext uri="{9D8B030D-6E8A-4147-A177-3AD203B41FA5}">
                      <a16:colId xmlns:a16="http://schemas.microsoft.com/office/drawing/2014/main" val="2530664953"/>
                    </a:ext>
                  </a:extLst>
                </a:gridCol>
                <a:gridCol w="4148631">
                  <a:extLst>
                    <a:ext uri="{9D8B030D-6E8A-4147-A177-3AD203B41FA5}">
                      <a16:colId xmlns:a16="http://schemas.microsoft.com/office/drawing/2014/main" val="132137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TITLE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게시판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(QnA)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page number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778344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9E211225-30B5-4EF3-AF87-D6226AF9C88D}"/>
              </a:ext>
            </a:extLst>
          </p:cNvPr>
          <p:cNvSpPr/>
          <p:nvPr/>
        </p:nvSpPr>
        <p:spPr>
          <a:xfrm>
            <a:off x="612970" y="623124"/>
            <a:ext cx="7259949" cy="59981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9B1C99-4BB8-4CE7-AAFA-3290F517DCCE}"/>
              </a:ext>
            </a:extLst>
          </p:cNvPr>
          <p:cNvSpPr txBox="1"/>
          <p:nvPr/>
        </p:nvSpPr>
        <p:spPr>
          <a:xfrm>
            <a:off x="1356626" y="678593"/>
            <a:ext cx="3647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경로</a:t>
            </a:r>
            <a:r>
              <a:rPr lang="en-US" altLang="ko-KR" sz="1200" b="1" dirty="0"/>
              <a:t>: /question/list</a:t>
            </a:r>
            <a:endParaRPr lang="ko-KR" altLang="en-US" sz="1200" b="1" dirty="0"/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8E8DACEB-994C-4DB5-B8E8-7EE3CBE33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353755"/>
              </p:ext>
            </p:extLst>
          </p:nvPr>
        </p:nvGraphicFramePr>
        <p:xfrm>
          <a:off x="8032090" y="619715"/>
          <a:ext cx="3976490" cy="5076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6452">
                  <a:extLst>
                    <a:ext uri="{9D8B030D-6E8A-4147-A177-3AD203B41FA5}">
                      <a16:colId xmlns:a16="http://schemas.microsoft.com/office/drawing/2014/main" val="360676869"/>
                    </a:ext>
                  </a:extLst>
                </a:gridCol>
                <a:gridCol w="3290038">
                  <a:extLst>
                    <a:ext uri="{9D8B030D-6E8A-4147-A177-3AD203B41FA5}">
                      <a16:colId xmlns:a16="http://schemas.microsoft.com/office/drawing/2014/main" val="2786339036"/>
                    </a:ext>
                  </a:extLst>
                </a:gridCol>
              </a:tblGrid>
              <a:tr h="345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No.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89784"/>
                  </a:ext>
                </a:extLst>
              </a:tr>
              <a:tr h="21759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메인 화면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algn="just" latinLnBrk="1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게시판에는 작성 번호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글쓴이 작성 일시가 화면에 보입니다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제목 옆에 빨간색 글씨로 몇 개의 응답이 달렸는지 확인 할 수 있습니다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03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535708"/>
                  </a:ext>
                </a:extLst>
              </a:tr>
              <a:tr h="25347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페이지 이동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한 페이지 당 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개의 질문 리스트를 보여주며 이전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다음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페이지 버튼을 통해 이동할 수 있습니다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dirty="0"/>
                        <a:t>현재 페이지 번호는 파란색으로 표시되어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사용자가 보고 있는 페이지를 확인할 수 있습니다</a:t>
                      </a:r>
                      <a:r>
                        <a:rPr lang="en-US" altLang="ko-KR" sz="105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844494"/>
                  </a:ext>
                </a:extLst>
              </a:tr>
            </a:tbl>
          </a:graphicData>
        </a:graphic>
      </p:graphicFrame>
      <p:grpSp>
        <p:nvGrpSpPr>
          <p:cNvPr id="12" name="그룹 11">
            <a:extLst>
              <a:ext uri="{FF2B5EF4-FFF2-40B4-BE49-F238E27FC236}">
                <a16:creationId xmlns:a16="http://schemas.microsoft.com/office/drawing/2014/main" id="{627D90D4-B373-4D46-86AB-5051ED9E0E19}"/>
              </a:ext>
            </a:extLst>
          </p:cNvPr>
          <p:cNvGrpSpPr/>
          <p:nvPr/>
        </p:nvGrpSpPr>
        <p:grpSpPr>
          <a:xfrm>
            <a:off x="959994" y="1257436"/>
            <a:ext cx="6565900" cy="4622664"/>
            <a:chOff x="-11176468" y="-2730501"/>
            <a:chExt cx="10846268" cy="7355846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29E3CE9-FD5D-4C76-8F1A-5DD650FEA9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70119" r="1153" b="4511"/>
            <a:stretch/>
          </p:blipFill>
          <p:spPr>
            <a:xfrm>
              <a:off x="-11176468" y="2885444"/>
              <a:ext cx="10846268" cy="1739901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8A9AC89-64DA-44F6-81BC-E9DAE9BBD5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8478" r="1153" b="8188"/>
            <a:stretch/>
          </p:blipFill>
          <p:spPr>
            <a:xfrm>
              <a:off x="-11176468" y="-2730501"/>
              <a:ext cx="10846268" cy="5715001"/>
            </a:xfrm>
            <a:prstGeom prst="rect">
              <a:avLst/>
            </a:prstGeom>
          </p:spPr>
        </p:pic>
      </p:grpSp>
      <p:pic>
        <p:nvPicPr>
          <p:cNvPr id="16" name="Picture 4" descr="1 번">
            <a:extLst>
              <a:ext uri="{FF2B5EF4-FFF2-40B4-BE49-F238E27FC236}">
                <a16:creationId xmlns:a16="http://schemas.microsoft.com/office/drawing/2014/main" id="{ED650AA3-9C90-4118-A004-F63B1DD96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026" y="2543712"/>
            <a:ext cx="257978" cy="25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 descr="2 번">
            <a:extLst>
              <a:ext uri="{FF2B5EF4-FFF2-40B4-BE49-F238E27FC236}">
                <a16:creationId xmlns:a16="http://schemas.microsoft.com/office/drawing/2014/main" id="{CA188A34-CCC7-449A-B56B-49809E252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0367" y="4321360"/>
            <a:ext cx="265154" cy="265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4861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6">
            <a:extLst>
              <a:ext uri="{FF2B5EF4-FFF2-40B4-BE49-F238E27FC236}">
                <a16:creationId xmlns:a16="http://schemas.microsoft.com/office/drawing/2014/main" id="{67499F47-C54B-4852-94D6-83575F671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709699"/>
              </p:ext>
            </p:extLst>
          </p:nvPr>
        </p:nvGraphicFramePr>
        <p:xfrm>
          <a:off x="612969" y="117091"/>
          <a:ext cx="1139561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295">
                  <a:extLst>
                    <a:ext uri="{9D8B030D-6E8A-4147-A177-3AD203B41FA5}">
                      <a16:colId xmlns:a16="http://schemas.microsoft.com/office/drawing/2014/main" val="2232611455"/>
                    </a:ext>
                  </a:extLst>
                </a:gridCol>
                <a:gridCol w="3340004">
                  <a:extLst>
                    <a:ext uri="{9D8B030D-6E8A-4147-A177-3AD203B41FA5}">
                      <a16:colId xmlns:a16="http://schemas.microsoft.com/office/drawing/2014/main" val="4198319941"/>
                    </a:ext>
                  </a:extLst>
                </a:gridCol>
                <a:gridCol w="1880681">
                  <a:extLst>
                    <a:ext uri="{9D8B030D-6E8A-4147-A177-3AD203B41FA5}">
                      <a16:colId xmlns:a16="http://schemas.microsoft.com/office/drawing/2014/main" val="2530664953"/>
                    </a:ext>
                  </a:extLst>
                </a:gridCol>
                <a:gridCol w="4148631">
                  <a:extLst>
                    <a:ext uri="{9D8B030D-6E8A-4147-A177-3AD203B41FA5}">
                      <a16:colId xmlns:a16="http://schemas.microsoft.com/office/drawing/2014/main" val="132137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TITLE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게시판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(QnA) -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검색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page number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778344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9E211225-30B5-4EF3-AF87-D6226AF9C88D}"/>
              </a:ext>
            </a:extLst>
          </p:cNvPr>
          <p:cNvSpPr/>
          <p:nvPr/>
        </p:nvSpPr>
        <p:spPr>
          <a:xfrm>
            <a:off x="612970" y="623124"/>
            <a:ext cx="7259949" cy="59981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9B1C99-4BB8-4CE7-AAFA-3290F517DCCE}"/>
              </a:ext>
            </a:extLst>
          </p:cNvPr>
          <p:cNvSpPr txBox="1"/>
          <p:nvPr/>
        </p:nvSpPr>
        <p:spPr>
          <a:xfrm>
            <a:off x="1356626" y="678593"/>
            <a:ext cx="3647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경로</a:t>
            </a:r>
            <a:r>
              <a:rPr lang="en-US" altLang="ko-KR" sz="1200" b="1" dirty="0"/>
              <a:t>: /question/list/?keyword=</a:t>
            </a:r>
            <a:r>
              <a:rPr lang="ko-KR" altLang="en-US" sz="1200" b="1" dirty="0"/>
              <a:t>배윤주</a:t>
            </a:r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8E8DACEB-994C-4DB5-B8E8-7EE3CBE33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069989"/>
              </p:ext>
            </p:extLst>
          </p:nvPr>
        </p:nvGraphicFramePr>
        <p:xfrm>
          <a:off x="8032090" y="619715"/>
          <a:ext cx="3976490" cy="2541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6452">
                  <a:extLst>
                    <a:ext uri="{9D8B030D-6E8A-4147-A177-3AD203B41FA5}">
                      <a16:colId xmlns:a16="http://schemas.microsoft.com/office/drawing/2014/main" val="360676869"/>
                    </a:ext>
                  </a:extLst>
                </a:gridCol>
                <a:gridCol w="3290038">
                  <a:extLst>
                    <a:ext uri="{9D8B030D-6E8A-4147-A177-3AD203B41FA5}">
                      <a16:colId xmlns:a16="http://schemas.microsoft.com/office/drawing/2014/main" val="2786339036"/>
                    </a:ext>
                  </a:extLst>
                </a:gridCol>
              </a:tblGrid>
              <a:tr h="345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No.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89784"/>
                  </a:ext>
                </a:extLst>
              </a:tr>
              <a:tr h="21759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검색 버튼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algn="just" latinLnBrk="1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검색창에 번호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글쓴이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내용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작성 일시 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가지 중 하나를 검색하면 해당 결과를 전부 화면에 보여줍니다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535708"/>
                  </a:ext>
                </a:extLst>
              </a:tr>
            </a:tbl>
          </a:graphicData>
        </a:graphic>
      </p:graphicFrame>
      <p:grpSp>
        <p:nvGrpSpPr>
          <p:cNvPr id="12" name="그룹 11">
            <a:extLst>
              <a:ext uri="{FF2B5EF4-FFF2-40B4-BE49-F238E27FC236}">
                <a16:creationId xmlns:a16="http://schemas.microsoft.com/office/drawing/2014/main" id="{627D90D4-B373-4D46-86AB-5051ED9E0E19}"/>
              </a:ext>
            </a:extLst>
          </p:cNvPr>
          <p:cNvGrpSpPr/>
          <p:nvPr/>
        </p:nvGrpSpPr>
        <p:grpSpPr>
          <a:xfrm>
            <a:off x="959994" y="1270070"/>
            <a:ext cx="6565900" cy="4622663"/>
            <a:chOff x="-11176468" y="-2730499"/>
            <a:chExt cx="10846268" cy="7355844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29E3CE9-FD5D-4C76-8F1A-5DD650FEA9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77368" r="1153" b="4511"/>
            <a:stretch/>
          </p:blipFill>
          <p:spPr>
            <a:xfrm>
              <a:off x="-11176468" y="3382604"/>
              <a:ext cx="10846268" cy="1242741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8A9AC89-64DA-44F6-81BC-E9DAE9BBD5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8478" r="1153" b="79001"/>
            <a:stretch/>
          </p:blipFill>
          <p:spPr>
            <a:xfrm>
              <a:off x="-11176468" y="-2730499"/>
              <a:ext cx="10846268" cy="858665"/>
            </a:xfrm>
            <a:prstGeom prst="rect">
              <a:avLst/>
            </a:prstGeom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C659FD3E-852D-4D9D-B055-FCB0865F50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3011" r="705" b="29490"/>
          <a:stretch/>
        </p:blipFill>
        <p:spPr>
          <a:xfrm>
            <a:off x="962759" y="1919633"/>
            <a:ext cx="6563135" cy="1962262"/>
          </a:xfrm>
          <a:prstGeom prst="rect">
            <a:avLst/>
          </a:prstGeom>
        </p:spPr>
      </p:pic>
      <p:pic>
        <p:nvPicPr>
          <p:cNvPr id="11" name="Picture 4" descr="1 번">
            <a:extLst>
              <a:ext uri="{FF2B5EF4-FFF2-40B4-BE49-F238E27FC236}">
                <a16:creationId xmlns:a16="http://schemas.microsoft.com/office/drawing/2014/main" id="{130F6EEA-EB1A-4822-9148-F0A37ABE6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776" y="2456630"/>
            <a:ext cx="257978" cy="25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434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6">
            <a:extLst>
              <a:ext uri="{FF2B5EF4-FFF2-40B4-BE49-F238E27FC236}">
                <a16:creationId xmlns:a16="http://schemas.microsoft.com/office/drawing/2014/main" id="{67499F47-C54B-4852-94D6-83575F671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954849"/>
              </p:ext>
            </p:extLst>
          </p:nvPr>
        </p:nvGraphicFramePr>
        <p:xfrm>
          <a:off x="612969" y="117091"/>
          <a:ext cx="1139561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295">
                  <a:extLst>
                    <a:ext uri="{9D8B030D-6E8A-4147-A177-3AD203B41FA5}">
                      <a16:colId xmlns:a16="http://schemas.microsoft.com/office/drawing/2014/main" val="2232611455"/>
                    </a:ext>
                  </a:extLst>
                </a:gridCol>
                <a:gridCol w="3340004">
                  <a:extLst>
                    <a:ext uri="{9D8B030D-6E8A-4147-A177-3AD203B41FA5}">
                      <a16:colId xmlns:a16="http://schemas.microsoft.com/office/drawing/2014/main" val="4198319941"/>
                    </a:ext>
                  </a:extLst>
                </a:gridCol>
                <a:gridCol w="1880681">
                  <a:extLst>
                    <a:ext uri="{9D8B030D-6E8A-4147-A177-3AD203B41FA5}">
                      <a16:colId xmlns:a16="http://schemas.microsoft.com/office/drawing/2014/main" val="2530664953"/>
                    </a:ext>
                  </a:extLst>
                </a:gridCol>
                <a:gridCol w="4148631">
                  <a:extLst>
                    <a:ext uri="{9D8B030D-6E8A-4147-A177-3AD203B41FA5}">
                      <a16:colId xmlns:a16="http://schemas.microsoft.com/office/drawing/2014/main" val="132137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TITLE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게시판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(QnA) –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질문 상세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page number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778344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9E211225-30B5-4EF3-AF87-D6226AF9C88D}"/>
              </a:ext>
            </a:extLst>
          </p:cNvPr>
          <p:cNvSpPr/>
          <p:nvPr/>
        </p:nvSpPr>
        <p:spPr>
          <a:xfrm>
            <a:off x="612970" y="623124"/>
            <a:ext cx="7259949" cy="59981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9B1C99-4BB8-4CE7-AAFA-3290F517DCCE}"/>
              </a:ext>
            </a:extLst>
          </p:cNvPr>
          <p:cNvSpPr txBox="1"/>
          <p:nvPr/>
        </p:nvSpPr>
        <p:spPr>
          <a:xfrm>
            <a:off x="1356626" y="678593"/>
            <a:ext cx="3647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경로</a:t>
            </a:r>
            <a:r>
              <a:rPr lang="en-US" altLang="ko-KR" sz="1200" b="1" dirty="0"/>
              <a:t>: /question/detail</a:t>
            </a:r>
            <a:endParaRPr lang="ko-KR" altLang="en-US" sz="1200" b="1" dirty="0"/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8E8DACEB-994C-4DB5-B8E8-7EE3CBE33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640179"/>
              </p:ext>
            </p:extLst>
          </p:nvPr>
        </p:nvGraphicFramePr>
        <p:xfrm>
          <a:off x="8032090" y="619715"/>
          <a:ext cx="3976490" cy="2541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6452">
                  <a:extLst>
                    <a:ext uri="{9D8B030D-6E8A-4147-A177-3AD203B41FA5}">
                      <a16:colId xmlns:a16="http://schemas.microsoft.com/office/drawing/2014/main" val="360676869"/>
                    </a:ext>
                  </a:extLst>
                </a:gridCol>
                <a:gridCol w="3290038">
                  <a:extLst>
                    <a:ext uri="{9D8B030D-6E8A-4147-A177-3AD203B41FA5}">
                      <a16:colId xmlns:a16="http://schemas.microsoft.com/office/drawing/2014/main" val="2786339036"/>
                    </a:ext>
                  </a:extLst>
                </a:gridCol>
              </a:tblGrid>
              <a:tr h="345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No.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89784"/>
                  </a:ext>
                </a:extLst>
              </a:tr>
              <a:tr h="21759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질문 상세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algn="just" latinLnBrk="1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질문을 클릭하면 해당 질문의 내용과 답변이 보입니다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질문한 사람의 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ID,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답변한 사람의 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가 보입니다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535708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C659FD3E-852D-4D9D-B055-FCB0865F50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011" r="705" b="29490"/>
          <a:stretch/>
        </p:blipFill>
        <p:spPr>
          <a:xfrm>
            <a:off x="962759" y="1919633"/>
            <a:ext cx="6563135" cy="1962262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6050BA2B-136C-405E-A136-505C640D6F40}"/>
              </a:ext>
            </a:extLst>
          </p:cNvPr>
          <p:cNvGrpSpPr/>
          <p:nvPr/>
        </p:nvGrpSpPr>
        <p:grpSpPr>
          <a:xfrm>
            <a:off x="959994" y="1270070"/>
            <a:ext cx="6532425" cy="3658404"/>
            <a:chOff x="-7206106" y="1919633"/>
            <a:chExt cx="6532425" cy="365840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7F460DF-BF3E-4F2B-B7DC-3060170B02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8181" r="695" b="28238"/>
            <a:stretch/>
          </p:blipFill>
          <p:spPr>
            <a:xfrm>
              <a:off x="-7206106" y="1919633"/>
              <a:ext cx="6532425" cy="2613985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46A701D7-BD81-4861-8041-EC3FBCD776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70040" r="1401" b="4556"/>
            <a:stretch/>
          </p:blipFill>
          <p:spPr>
            <a:xfrm>
              <a:off x="-7206106" y="4533618"/>
              <a:ext cx="6532425" cy="1044419"/>
            </a:xfrm>
            <a:prstGeom prst="rect">
              <a:avLst/>
            </a:prstGeom>
          </p:spPr>
        </p:pic>
      </p:grpSp>
      <p:pic>
        <p:nvPicPr>
          <p:cNvPr id="16" name="Picture 4" descr="1 번">
            <a:extLst>
              <a:ext uri="{FF2B5EF4-FFF2-40B4-BE49-F238E27FC236}">
                <a16:creationId xmlns:a16="http://schemas.microsoft.com/office/drawing/2014/main" id="{D10CABB3-C940-4B94-A5F4-987EC7514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626" y="2448074"/>
            <a:ext cx="257978" cy="25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8204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6">
            <a:extLst>
              <a:ext uri="{FF2B5EF4-FFF2-40B4-BE49-F238E27FC236}">
                <a16:creationId xmlns:a16="http://schemas.microsoft.com/office/drawing/2014/main" id="{67499F47-C54B-4852-94D6-83575F671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301812"/>
              </p:ext>
            </p:extLst>
          </p:nvPr>
        </p:nvGraphicFramePr>
        <p:xfrm>
          <a:off x="612969" y="117091"/>
          <a:ext cx="1139561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295">
                  <a:extLst>
                    <a:ext uri="{9D8B030D-6E8A-4147-A177-3AD203B41FA5}">
                      <a16:colId xmlns:a16="http://schemas.microsoft.com/office/drawing/2014/main" val="2232611455"/>
                    </a:ext>
                  </a:extLst>
                </a:gridCol>
                <a:gridCol w="3340004">
                  <a:extLst>
                    <a:ext uri="{9D8B030D-6E8A-4147-A177-3AD203B41FA5}">
                      <a16:colId xmlns:a16="http://schemas.microsoft.com/office/drawing/2014/main" val="4198319941"/>
                    </a:ext>
                  </a:extLst>
                </a:gridCol>
                <a:gridCol w="1880681">
                  <a:extLst>
                    <a:ext uri="{9D8B030D-6E8A-4147-A177-3AD203B41FA5}">
                      <a16:colId xmlns:a16="http://schemas.microsoft.com/office/drawing/2014/main" val="2530664953"/>
                    </a:ext>
                  </a:extLst>
                </a:gridCol>
                <a:gridCol w="4148631">
                  <a:extLst>
                    <a:ext uri="{9D8B030D-6E8A-4147-A177-3AD203B41FA5}">
                      <a16:colId xmlns:a16="http://schemas.microsoft.com/office/drawing/2014/main" val="132137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TITLE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게시판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(QnA) –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질문 등록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page number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778344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9E211225-30B5-4EF3-AF87-D6226AF9C88D}"/>
              </a:ext>
            </a:extLst>
          </p:cNvPr>
          <p:cNvSpPr/>
          <p:nvPr/>
        </p:nvSpPr>
        <p:spPr>
          <a:xfrm>
            <a:off x="612970" y="623124"/>
            <a:ext cx="7259949" cy="59981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9B1C99-4BB8-4CE7-AAFA-3290F517DCCE}"/>
              </a:ext>
            </a:extLst>
          </p:cNvPr>
          <p:cNvSpPr txBox="1"/>
          <p:nvPr/>
        </p:nvSpPr>
        <p:spPr>
          <a:xfrm>
            <a:off x="1356626" y="678593"/>
            <a:ext cx="3647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경로</a:t>
            </a:r>
            <a:r>
              <a:rPr lang="en-US" altLang="ko-KR" sz="1200" b="1" dirty="0"/>
              <a:t>: /question/create</a:t>
            </a:r>
            <a:endParaRPr lang="ko-KR" altLang="en-US" sz="1200" b="1" dirty="0"/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8E8DACEB-994C-4DB5-B8E8-7EE3CBE33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000892"/>
              </p:ext>
            </p:extLst>
          </p:nvPr>
        </p:nvGraphicFramePr>
        <p:xfrm>
          <a:off x="8032090" y="619715"/>
          <a:ext cx="3976490" cy="41225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6452">
                  <a:extLst>
                    <a:ext uri="{9D8B030D-6E8A-4147-A177-3AD203B41FA5}">
                      <a16:colId xmlns:a16="http://schemas.microsoft.com/office/drawing/2014/main" val="360676869"/>
                    </a:ext>
                  </a:extLst>
                </a:gridCol>
                <a:gridCol w="3290038">
                  <a:extLst>
                    <a:ext uri="{9D8B030D-6E8A-4147-A177-3AD203B41FA5}">
                      <a16:colId xmlns:a16="http://schemas.microsoft.com/office/drawing/2014/main" val="2786339036"/>
                    </a:ext>
                  </a:extLst>
                </a:gridCol>
              </a:tblGrid>
              <a:tr h="3628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No.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89784"/>
                  </a:ext>
                </a:extLst>
              </a:tr>
              <a:tr h="18784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질문 등록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algn="just" latinLnBrk="1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질문 등록 시 제목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내용 중 공란이 있으면 경고창이 뜹니다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19915"/>
                  </a:ext>
                </a:extLst>
              </a:tr>
              <a:tr h="18784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저장하기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algn="just" latinLnBrk="1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저장하기 버튼을 누르면 등록한 질문이 화면에 보여집니다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535708"/>
                  </a:ext>
                </a:extLst>
              </a:tr>
            </a:tbl>
          </a:graphicData>
        </a:graphic>
      </p:graphicFrame>
      <p:grpSp>
        <p:nvGrpSpPr>
          <p:cNvPr id="12" name="그룹 11">
            <a:extLst>
              <a:ext uri="{FF2B5EF4-FFF2-40B4-BE49-F238E27FC236}">
                <a16:creationId xmlns:a16="http://schemas.microsoft.com/office/drawing/2014/main" id="{627D90D4-B373-4D46-86AB-5051ED9E0E19}"/>
              </a:ext>
            </a:extLst>
          </p:cNvPr>
          <p:cNvGrpSpPr/>
          <p:nvPr/>
        </p:nvGrpSpPr>
        <p:grpSpPr>
          <a:xfrm>
            <a:off x="937957" y="1242053"/>
            <a:ext cx="6568664" cy="4161299"/>
            <a:chOff x="-11181034" y="-2730499"/>
            <a:chExt cx="10850834" cy="6621692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29E3CE9-FD5D-4C76-8F1A-5DD650FEA9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77368" r="1153" b="4511"/>
            <a:stretch/>
          </p:blipFill>
          <p:spPr>
            <a:xfrm>
              <a:off x="-11181034" y="2648452"/>
              <a:ext cx="10846268" cy="1242741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8A9AC89-64DA-44F6-81BC-E9DAE9BBD5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8478" r="1153" b="79001"/>
            <a:stretch/>
          </p:blipFill>
          <p:spPr>
            <a:xfrm>
              <a:off x="-11176468" y="-2730499"/>
              <a:ext cx="10846268" cy="858664"/>
            </a:xfrm>
            <a:prstGeom prst="rect">
              <a:avLst/>
            </a:prstGeom>
          </p:spPr>
        </p:pic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A6AF74C3-3310-4EE1-A018-B9D6D99D795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2064" r="926" b="5278"/>
          <a:stretch/>
        </p:blipFill>
        <p:spPr>
          <a:xfrm>
            <a:off x="937957" y="1781667"/>
            <a:ext cx="6565900" cy="3009528"/>
          </a:xfrm>
          <a:prstGeom prst="rect">
            <a:avLst/>
          </a:prstGeom>
        </p:spPr>
      </p:pic>
      <p:pic>
        <p:nvPicPr>
          <p:cNvPr id="18" name="Picture 4" descr="1 번">
            <a:extLst>
              <a:ext uri="{FF2B5EF4-FFF2-40B4-BE49-F238E27FC236}">
                <a16:creationId xmlns:a16="http://schemas.microsoft.com/office/drawing/2014/main" id="{9DB60A3C-7ABA-4518-8174-61FC01551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2526" y="1985146"/>
            <a:ext cx="257978" cy="25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 descr="2 번">
            <a:extLst>
              <a:ext uri="{FF2B5EF4-FFF2-40B4-BE49-F238E27FC236}">
                <a16:creationId xmlns:a16="http://schemas.microsoft.com/office/drawing/2014/main" id="{C038CEDE-143C-42C9-A4EE-0FF5DDBA9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6699" y="4289621"/>
            <a:ext cx="265154" cy="265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7406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6">
            <a:extLst>
              <a:ext uri="{FF2B5EF4-FFF2-40B4-BE49-F238E27FC236}">
                <a16:creationId xmlns:a16="http://schemas.microsoft.com/office/drawing/2014/main" id="{67499F47-C54B-4852-94D6-83575F671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500280"/>
              </p:ext>
            </p:extLst>
          </p:nvPr>
        </p:nvGraphicFramePr>
        <p:xfrm>
          <a:off x="612969" y="117091"/>
          <a:ext cx="1139561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295">
                  <a:extLst>
                    <a:ext uri="{9D8B030D-6E8A-4147-A177-3AD203B41FA5}">
                      <a16:colId xmlns:a16="http://schemas.microsoft.com/office/drawing/2014/main" val="2232611455"/>
                    </a:ext>
                  </a:extLst>
                </a:gridCol>
                <a:gridCol w="3340004">
                  <a:extLst>
                    <a:ext uri="{9D8B030D-6E8A-4147-A177-3AD203B41FA5}">
                      <a16:colId xmlns:a16="http://schemas.microsoft.com/office/drawing/2014/main" val="4198319941"/>
                    </a:ext>
                  </a:extLst>
                </a:gridCol>
                <a:gridCol w="1880681">
                  <a:extLst>
                    <a:ext uri="{9D8B030D-6E8A-4147-A177-3AD203B41FA5}">
                      <a16:colId xmlns:a16="http://schemas.microsoft.com/office/drawing/2014/main" val="2530664953"/>
                    </a:ext>
                  </a:extLst>
                </a:gridCol>
                <a:gridCol w="4148631">
                  <a:extLst>
                    <a:ext uri="{9D8B030D-6E8A-4147-A177-3AD203B41FA5}">
                      <a16:colId xmlns:a16="http://schemas.microsoft.com/office/drawing/2014/main" val="132137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TITLE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게시판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(QnA) –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답변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page number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778344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9E211225-30B5-4EF3-AF87-D6226AF9C88D}"/>
              </a:ext>
            </a:extLst>
          </p:cNvPr>
          <p:cNvSpPr/>
          <p:nvPr/>
        </p:nvSpPr>
        <p:spPr>
          <a:xfrm>
            <a:off x="612970" y="623124"/>
            <a:ext cx="7259949" cy="59981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9B1C99-4BB8-4CE7-AAFA-3290F517DCCE}"/>
              </a:ext>
            </a:extLst>
          </p:cNvPr>
          <p:cNvSpPr txBox="1"/>
          <p:nvPr/>
        </p:nvSpPr>
        <p:spPr>
          <a:xfrm>
            <a:off x="1356626" y="678593"/>
            <a:ext cx="3647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경로</a:t>
            </a:r>
            <a:r>
              <a:rPr lang="en-US" altLang="ko-KR" sz="1200" b="1" dirty="0"/>
              <a:t>: /answer/create</a:t>
            </a:r>
            <a:endParaRPr lang="ko-KR" altLang="en-US" sz="1200" b="1" dirty="0"/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8E8DACEB-994C-4DB5-B8E8-7EE3CBE33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005613"/>
              </p:ext>
            </p:extLst>
          </p:nvPr>
        </p:nvGraphicFramePr>
        <p:xfrm>
          <a:off x="8032090" y="619715"/>
          <a:ext cx="3976490" cy="6000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6452">
                  <a:extLst>
                    <a:ext uri="{9D8B030D-6E8A-4147-A177-3AD203B41FA5}">
                      <a16:colId xmlns:a16="http://schemas.microsoft.com/office/drawing/2014/main" val="360676869"/>
                    </a:ext>
                  </a:extLst>
                </a:gridCol>
                <a:gridCol w="3290038">
                  <a:extLst>
                    <a:ext uri="{9D8B030D-6E8A-4147-A177-3AD203B41FA5}">
                      <a16:colId xmlns:a16="http://schemas.microsoft.com/office/drawing/2014/main" val="2786339036"/>
                    </a:ext>
                  </a:extLst>
                </a:gridCol>
              </a:tblGrid>
              <a:tr h="3628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No.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89784"/>
                  </a:ext>
                </a:extLst>
              </a:tr>
              <a:tr h="18784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답변 등록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algn="just" latinLnBrk="1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답변 등록 시 내용을 입력하지 않으면 화면에 내용을 입력하라는 경고창이 뜹니다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19915"/>
                  </a:ext>
                </a:extLst>
              </a:tr>
              <a:tr h="18784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답변 수정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algn="just" latinLnBrk="1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답변 수정 시 수정된 날짜가 화면에 보여집니다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로그인 사용자와 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가 같을 시 답변 수정이 가능하고 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가 같지 않으면 알림창이 뜹니다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535708"/>
                  </a:ext>
                </a:extLst>
              </a:tr>
              <a:tr h="18784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답변 삭제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algn="just" latinLnBrk="1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답변 삭제 시 화면 상단에 다시 한번 물어보는 알림창이 뜹니다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437473"/>
                  </a:ext>
                </a:extLst>
              </a:tr>
            </a:tbl>
          </a:graphicData>
        </a:graphic>
      </p:graphicFrame>
      <p:grpSp>
        <p:nvGrpSpPr>
          <p:cNvPr id="12" name="그룹 11">
            <a:extLst>
              <a:ext uri="{FF2B5EF4-FFF2-40B4-BE49-F238E27FC236}">
                <a16:creationId xmlns:a16="http://schemas.microsoft.com/office/drawing/2014/main" id="{627D90D4-B373-4D46-86AB-5051ED9E0E19}"/>
              </a:ext>
            </a:extLst>
          </p:cNvPr>
          <p:cNvGrpSpPr/>
          <p:nvPr/>
        </p:nvGrpSpPr>
        <p:grpSpPr>
          <a:xfrm>
            <a:off x="957230" y="1270069"/>
            <a:ext cx="6568664" cy="4161299"/>
            <a:chOff x="-11181034" y="-2730499"/>
            <a:chExt cx="10850834" cy="6621692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29E3CE9-FD5D-4C76-8F1A-5DD650FEA9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77368" r="1153" b="4511"/>
            <a:stretch/>
          </p:blipFill>
          <p:spPr>
            <a:xfrm>
              <a:off x="-11181034" y="2648452"/>
              <a:ext cx="10846268" cy="1242741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8A9AC89-64DA-44F6-81BC-E9DAE9BBD5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8478" r="1153" b="79001"/>
            <a:stretch/>
          </p:blipFill>
          <p:spPr>
            <a:xfrm>
              <a:off x="-11176468" y="-2730499"/>
              <a:ext cx="10846268" cy="858664"/>
            </a:xfrm>
            <a:prstGeom prst="rect">
              <a:avLst/>
            </a:prstGeom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C659FD3E-852D-4D9D-B055-FCB0865F50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3011" r="705" b="29490"/>
          <a:stretch/>
        </p:blipFill>
        <p:spPr>
          <a:xfrm>
            <a:off x="962759" y="1919633"/>
            <a:ext cx="6563135" cy="196226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DBDA01C-E1A0-4E0F-9B57-F3C9CF23CF5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4620" r="868" b="18859"/>
          <a:stretch/>
        </p:blipFill>
        <p:spPr>
          <a:xfrm>
            <a:off x="957230" y="1813057"/>
            <a:ext cx="6563135" cy="275259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467B79F-1D57-42E8-A993-7D767D8BF5F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6797" t="8240" r="37372" b="78989"/>
          <a:stretch/>
        </p:blipFill>
        <p:spPr>
          <a:xfrm>
            <a:off x="3481225" y="1809683"/>
            <a:ext cx="1708151" cy="52527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3" name="Picture 4" descr="1 번">
            <a:extLst>
              <a:ext uri="{FF2B5EF4-FFF2-40B4-BE49-F238E27FC236}">
                <a16:creationId xmlns:a16="http://schemas.microsoft.com/office/drawing/2014/main" id="{CD4FA942-87FB-4045-B107-0EF683DBB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3626" y="3109096"/>
            <a:ext cx="257978" cy="25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2 번">
            <a:extLst>
              <a:ext uri="{FF2B5EF4-FFF2-40B4-BE49-F238E27FC236}">
                <a16:creationId xmlns:a16="http://schemas.microsoft.com/office/drawing/2014/main" id="{5881681E-0DEB-4AF4-97F3-04ACFAE44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5190" y="2124160"/>
            <a:ext cx="265154" cy="265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3 번">
            <a:extLst>
              <a:ext uri="{FF2B5EF4-FFF2-40B4-BE49-F238E27FC236}">
                <a16:creationId xmlns:a16="http://schemas.microsoft.com/office/drawing/2014/main" id="{B774BF60-31CC-489D-BBCC-5E801F8D7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2054" y="2172639"/>
            <a:ext cx="251812" cy="25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2198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EAF4812-6C76-4845-A371-7BE422814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896" y="1242053"/>
            <a:ext cx="6565961" cy="4206605"/>
          </a:xfrm>
          <a:prstGeom prst="rect">
            <a:avLst/>
          </a:prstGeom>
        </p:spPr>
      </p:pic>
      <p:graphicFrame>
        <p:nvGraphicFramePr>
          <p:cNvPr id="5" name="표 6">
            <a:extLst>
              <a:ext uri="{FF2B5EF4-FFF2-40B4-BE49-F238E27FC236}">
                <a16:creationId xmlns:a16="http://schemas.microsoft.com/office/drawing/2014/main" id="{67499F47-C54B-4852-94D6-83575F671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376315"/>
              </p:ext>
            </p:extLst>
          </p:nvPr>
        </p:nvGraphicFramePr>
        <p:xfrm>
          <a:off x="612969" y="117091"/>
          <a:ext cx="1139561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295">
                  <a:extLst>
                    <a:ext uri="{9D8B030D-6E8A-4147-A177-3AD203B41FA5}">
                      <a16:colId xmlns:a16="http://schemas.microsoft.com/office/drawing/2014/main" val="2232611455"/>
                    </a:ext>
                  </a:extLst>
                </a:gridCol>
                <a:gridCol w="3340004">
                  <a:extLst>
                    <a:ext uri="{9D8B030D-6E8A-4147-A177-3AD203B41FA5}">
                      <a16:colId xmlns:a16="http://schemas.microsoft.com/office/drawing/2014/main" val="4198319941"/>
                    </a:ext>
                  </a:extLst>
                </a:gridCol>
                <a:gridCol w="1880681">
                  <a:extLst>
                    <a:ext uri="{9D8B030D-6E8A-4147-A177-3AD203B41FA5}">
                      <a16:colId xmlns:a16="http://schemas.microsoft.com/office/drawing/2014/main" val="2530664953"/>
                    </a:ext>
                  </a:extLst>
                </a:gridCol>
                <a:gridCol w="4148631">
                  <a:extLst>
                    <a:ext uri="{9D8B030D-6E8A-4147-A177-3AD203B41FA5}">
                      <a16:colId xmlns:a16="http://schemas.microsoft.com/office/drawing/2014/main" val="132137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TITLE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로그인 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page number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778344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9E211225-30B5-4EF3-AF87-D6226AF9C88D}"/>
              </a:ext>
            </a:extLst>
          </p:cNvPr>
          <p:cNvSpPr/>
          <p:nvPr/>
        </p:nvSpPr>
        <p:spPr>
          <a:xfrm>
            <a:off x="612970" y="623124"/>
            <a:ext cx="7259949" cy="59981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9B1C99-4BB8-4CE7-AAFA-3290F517DCCE}"/>
              </a:ext>
            </a:extLst>
          </p:cNvPr>
          <p:cNvSpPr txBox="1"/>
          <p:nvPr/>
        </p:nvSpPr>
        <p:spPr>
          <a:xfrm>
            <a:off x="1356626" y="678593"/>
            <a:ext cx="3647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경로</a:t>
            </a:r>
            <a:r>
              <a:rPr lang="en-US" altLang="ko-KR" sz="1200" b="1" dirty="0"/>
              <a:t>: /auth/login</a:t>
            </a:r>
            <a:endParaRPr lang="ko-KR" altLang="en-US" sz="1200" b="1" dirty="0"/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8E8DACEB-994C-4DB5-B8E8-7EE3CBE33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100081"/>
              </p:ext>
            </p:extLst>
          </p:nvPr>
        </p:nvGraphicFramePr>
        <p:xfrm>
          <a:off x="8032090" y="619714"/>
          <a:ext cx="3976490" cy="59981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6452">
                  <a:extLst>
                    <a:ext uri="{9D8B030D-6E8A-4147-A177-3AD203B41FA5}">
                      <a16:colId xmlns:a16="http://schemas.microsoft.com/office/drawing/2014/main" val="360676869"/>
                    </a:ext>
                  </a:extLst>
                </a:gridCol>
                <a:gridCol w="3290038">
                  <a:extLst>
                    <a:ext uri="{9D8B030D-6E8A-4147-A177-3AD203B41FA5}">
                      <a16:colId xmlns:a16="http://schemas.microsoft.com/office/drawing/2014/main" val="2786339036"/>
                    </a:ext>
                  </a:extLst>
                </a:gridCol>
              </a:tblGrid>
              <a:tr h="3663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No.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89784"/>
                  </a:ext>
                </a:extLst>
              </a:tr>
              <a:tr h="11171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&lt;Login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 버튼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algn="just" latinLnBrk="1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Login / Sign up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버튼 클릭 시 해당 화면이 보여집니다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19915"/>
                  </a:ext>
                </a:extLst>
              </a:tr>
              <a:tr h="14320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&lt;Login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 입력 폼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algn="just" latinLnBrk="1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로그인 시 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ID, Password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를 입력해야 로그인이 가능합니다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Password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입력 시 화면에 가려져서 보여집니다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03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311505"/>
                  </a:ext>
                </a:extLst>
              </a:tr>
              <a:tr h="16678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&lt;Sign in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버튼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algn="just" latinLnBrk="1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Sign in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버튼을 누르고 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ID, Password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가 일치 할 시 메인 페이지로 이동 됩니다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일치하지 않는 항목이 있을 시 화면에 알림창이 뜹니다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03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535708"/>
                  </a:ext>
                </a:extLst>
              </a:tr>
              <a:tr h="14147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&lt;Login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 실패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algn="just" latinLnBrk="1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ID, Password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중 일치하지 않는 항목이 있을 시 화면에 알림창이 뜹니다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03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443798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029E3CE9-FD5D-4C76-8F1A-5DD650FEA9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7368" r="1153" b="4511"/>
          <a:stretch/>
        </p:blipFill>
        <p:spPr>
          <a:xfrm>
            <a:off x="937957" y="4622371"/>
            <a:ext cx="6565900" cy="78098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9E90355-7741-4891-A16A-A7A4E2A677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919" t="26944" r="30845" b="9086"/>
          <a:stretch/>
        </p:blipFill>
        <p:spPr>
          <a:xfrm>
            <a:off x="5397500" y="2506658"/>
            <a:ext cx="1910457" cy="1946725"/>
          </a:xfrm>
          <a:prstGeom prst="rect">
            <a:avLst/>
          </a:prstGeom>
        </p:spPr>
      </p:pic>
      <p:pic>
        <p:nvPicPr>
          <p:cNvPr id="13" name="Picture 4" descr="1 번">
            <a:extLst>
              <a:ext uri="{FF2B5EF4-FFF2-40B4-BE49-F238E27FC236}">
                <a16:creationId xmlns:a16="http://schemas.microsoft.com/office/drawing/2014/main" id="{43CC660D-8723-42AF-89BF-41261E1BB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1726" y="1849906"/>
            <a:ext cx="257978" cy="25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C0426D0-BE8A-41B3-8BB7-14DEF3A5AE4E}"/>
              </a:ext>
            </a:extLst>
          </p:cNvPr>
          <p:cNvCxnSpPr>
            <a:cxnSpLocks/>
          </p:cNvCxnSpPr>
          <p:nvPr/>
        </p:nvCxnSpPr>
        <p:spPr>
          <a:xfrm flipH="1" flipV="1">
            <a:off x="7004050" y="4191000"/>
            <a:ext cx="1270001" cy="131925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18" name="Picture 6" descr="2 번">
            <a:extLst>
              <a:ext uri="{FF2B5EF4-FFF2-40B4-BE49-F238E27FC236}">
                <a16:creationId xmlns:a16="http://schemas.microsoft.com/office/drawing/2014/main" id="{2590B2EE-E389-4559-B82E-E5D4F5D3C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3540" y="2613110"/>
            <a:ext cx="265154" cy="265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8" descr="3 번">
            <a:extLst>
              <a:ext uri="{FF2B5EF4-FFF2-40B4-BE49-F238E27FC236}">
                <a16:creationId xmlns:a16="http://schemas.microsoft.com/office/drawing/2014/main" id="{ECD22F71-BCA4-4ABC-9FCA-F2DC7EB4A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2788" y="3556939"/>
            <a:ext cx="251812" cy="25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4번">
            <a:extLst>
              <a:ext uri="{FF2B5EF4-FFF2-40B4-BE49-F238E27FC236}">
                <a16:creationId xmlns:a16="http://schemas.microsoft.com/office/drawing/2014/main" id="{C68FE0D2-5FDE-48CA-8783-A4CA1F54B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5607" y="2601378"/>
            <a:ext cx="276886" cy="276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96564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6">
            <a:extLst>
              <a:ext uri="{FF2B5EF4-FFF2-40B4-BE49-F238E27FC236}">
                <a16:creationId xmlns:a16="http://schemas.microsoft.com/office/drawing/2014/main" id="{67499F47-C54B-4852-94D6-83575F671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3130907"/>
              </p:ext>
            </p:extLst>
          </p:nvPr>
        </p:nvGraphicFramePr>
        <p:xfrm>
          <a:off x="612969" y="117091"/>
          <a:ext cx="1139561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295">
                  <a:extLst>
                    <a:ext uri="{9D8B030D-6E8A-4147-A177-3AD203B41FA5}">
                      <a16:colId xmlns:a16="http://schemas.microsoft.com/office/drawing/2014/main" val="2232611455"/>
                    </a:ext>
                  </a:extLst>
                </a:gridCol>
                <a:gridCol w="3340004">
                  <a:extLst>
                    <a:ext uri="{9D8B030D-6E8A-4147-A177-3AD203B41FA5}">
                      <a16:colId xmlns:a16="http://schemas.microsoft.com/office/drawing/2014/main" val="4198319941"/>
                    </a:ext>
                  </a:extLst>
                </a:gridCol>
                <a:gridCol w="1880681">
                  <a:extLst>
                    <a:ext uri="{9D8B030D-6E8A-4147-A177-3AD203B41FA5}">
                      <a16:colId xmlns:a16="http://schemas.microsoft.com/office/drawing/2014/main" val="2530664953"/>
                    </a:ext>
                  </a:extLst>
                </a:gridCol>
                <a:gridCol w="4148631">
                  <a:extLst>
                    <a:ext uri="{9D8B030D-6E8A-4147-A177-3AD203B41FA5}">
                      <a16:colId xmlns:a16="http://schemas.microsoft.com/office/drawing/2014/main" val="132137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TITLE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비밀번호 변경 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page number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778344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9E211225-30B5-4EF3-AF87-D6226AF9C88D}"/>
              </a:ext>
            </a:extLst>
          </p:cNvPr>
          <p:cNvSpPr/>
          <p:nvPr/>
        </p:nvSpPr>
        <p:spPr>
          <a:xfrm>
            <a:off x="612970" y="623124"/>
            <a:ext cx="7259949" cy="59981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9B1C99-4BB8-4CE7-AAFA-3290F517DCCE}"/>
              </a:ext>
            </a:extLst>
          </p:cNvPr>
          <p:cNvSpPr txBox="1"/>
          <p:nvPr/>
        </p:nvSpPr>
        <p:spPr>
          <a:xfrm>
            <a:off x="1356626" y="678593"/>
            <a:ext cx="3647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경로</a:t>
            </a:r>
            <a:r>
              <a:rPr lang="en-US" altLang="ko-KR" sz="1200" b="1" dirty="0"/>
              <a:t>: /auth/forgot</a:t>
            </a:r>
            <a:endParaRPr lang="ko-KR" altLang="en-US" sz="1200" b="1" dirty="0"/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8E8DACEB-994C-4DB5-B8E8-7EE3CBE33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030708"/>
              </p:ext>
            </p:extLst>
          </p:nvPr>
        </p:nvGraphicFramePr>
        <p:xfrm>
          <a:off x="8032090" y="619715"/>
          <a:ext cx="3976490" cy="2244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6452">
                  <a:extLst>
                    <a:ext uri="{9D8B030D-6E8A-4147-A177-3AD203B41FA5}">
                      <a16:colId xmlns:a16="http://schemas.microsoft.com/office/drawing/2014/main" val="360676869"/>
                    </a:ext>
                  </a:extLst>
                </a:gridCol>
                <a:gridCol w="3290038">
                  <a:extLst>
                    <a:ext uri="{9D8B030D-6E8A-4147-A177-3AD203B41FA5}">
                      <a16:colId xmlns:a16="http://schemas.microsoft.com/office/drawing/2014/main" val="2786339036"/>
                    </a:ext>
                  </a:extLst>
                </a:gridCol>
              </a:tblGrid>
              <a:tr h="3628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No.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89784"/>
                  </a:ext>
                </a:extLst>
              </a:tr>
              <a:tr h="18784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비밀번호 변경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algn="just" latinLnBrk="1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Login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페이지에서 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Forgot Password?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링크를 클릭하면 비밀번호 변경 페이지로 이동됩니다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비밀번호 변경 시 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ID, Email,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 새 비밀번호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비밀번호 확인을 입력해야 합니다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19915"/>
                  </a:ext>
                </a:extLst>
              </a:tr>
            </a:tbl>
          </a:graphicData>
        </a:graphic>
      </p:graphicFrame>
      <p:grpSp>
        <p:nvGrpSpPr>
          <p:cNvPr id="17" name="그룹 16">
            <a:extLst>
              <a:ext uri="{FF2B5EF4-FFF2-40B4-BE49-F238E27FC236}">
                <a16:creationId xmlns:a16="http://schemas.microsoft.com/office/drawing/2014/main" id="{1DCA4851-36FF-4E46-84D0-76A082467A86}"/>
              </a:ext>
            </a:extLst>
          </p:cNvPr>
          <p:cNvGrpSpPr/>
          <p:nvPr/>
        </p:nvGrpSpPr>
        <p:grpSpPr>
          <a:xfrm>
            <a:off x="1016667" y="1352550"/>
            <a:ext cx="6565900" cy="4208922"/>
            <a:chOff x="1016667" y="1352550"/>
            <a:chExt cx="6565900" cy="4208922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29E3CE9-FD5D-4C76-8F1A-5DD650FEA9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77368" r="1153" b="4511"/>
            <a:stretch/>
          </p:blipFill>
          <p:spPr>
            <a:xfrm>
              <a:off x="1016667" y="4780491"/>
              <a:ext cx="6565900" cy="780981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8959DD0F-A60C-4E18-B5FA-3EFCD0CCD1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8796" r="926" b="8345"/>
            <a:stretch/>
          </p:blipFill>
          <p:spPr>
            <a:xfrm>
              <a:off x="1016667" y="1352550"/>
              <a:ext cx="6558084" cy="3427941"/>
            </a:xfrm>
            <a:prstGeom prst="rect">
              <a:avLst/>
            </a:prstGeom>
          </p:spPr>
        </p:pic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AE28ECF3-4806-4206-B20F-3747C8AD3E2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248" t="22976" r="27257" b="9630"/>
          <a:stretch/>
        </p:blipFill>
        <p:spPr>
          <a:xfrm>
            <a:off x="2739694" y="2009913"/>
            <a:ext cx="3112030" cy="2702982"/>
          </a:xfrm>
          <a:prstGeom prst="rect">
            <a:avLst/>
          </a:prstGeom>
        </p:spPr>
      </p:pic>
      <p:pic>
        <p:nvPicPr>
          <p:cNvPr id="21" name="Picture 4" descr="1 번">
            <a:extLst>
              <a:ext uri="{FF2B5EF4-FFF2-40B4-BE49-F238E27FC236}">
                <a16:creationId xmlns:a16="http://schemas.microsoft.com/office/drawing/2014/main" id="{E3E51B1D-6ACF-4860-8E2F-B07F1E652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2635" y="3232415"/>
            <a:ext cx="257978" cy="25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31699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6">
            <a:extLst>
              <a:ext uri="{FF2B5EF4-FFF2-40B4-BE49-F238E27FC236}">
                <a16:creationId xmlns:a16="http://schemas.microsoft.com/office/drawing/2014/main" id="{67499F47-C54B-4852-94D6-83575F671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961778"/>
              </p:ext>
            </p:extLst>
          </p:nvPr>
        </p:nvGraphicFramePr>
        <p:xfrm>
          <a:off x="612969" y="117091"/>
          <a:ext cx="1139561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295">
                  <a:extLst>
                    <a:ext uri="{9D8B030D-6E8A-4147-A177-3AD203B41FA5}">
                      <a16:colId xmlns:a16="http://schemas.microsoft.com/office/drawing/2014/main" val="2232611455"/>
                    </a:ext>
                  </a:extLst>
                </a:gridCol>
                <a:gridCol w="3340004">
                  <a:extLst>
                    <a:ext uri="{9D8B030D-6E8A-4147-A177-3AD203B41FA5}">
                      <a16:colId xmlns:a16="http://schemas.microsoft.com/office/drawing/2014/main" val="4198319941"/>
                    </a:ext>
                  </a:extLst>
                </a:gridCol>
                <a:gridCol w="1880681">
                  <a:extLst>
                    <a:ext uri="{9D8B030D-6E8A-4147-A177-3AD203B41FA5}">
                      <a16:colId xmlns:a16="http://schemas.microsoft.com/office/drawing/2014/main" val="2530664953"/>
                    </a:ext>
                  </a:extLst>
                </a:gridCol>
                <a:gridCol w="4148631">
                  <a:extLst>
                    <a:ext uri="{9D8B030D-6E8A-4147-A177-3AD203B41FA5}">
                      <a16:colId xmlns:a16="http://schemas.microsoft.com/office/drawing/2014/main" val="132137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TITLE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회원가입 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page number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778344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9E211225-30B5-4EF3-AF87-D6226AF9C88D}"/>
              </a:ext>
            </a:extLst>
          </p:cNvPr>
          <p:cNvSpPr/>
          <p:nvPr/>
        </p:nvSpPr>
        <p:spPr>
          <a:xfrm>
            <a:off x="612970" y="623124"/>
            <a:ext cx="7259949" cy="59981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9B1C99-4BB8-4CE7-AAFA-3290F517DCCE}"/>
              </a:ext>
            </a:extLst>
          </p:cNvPr>
          <p:cNvSpPr txBox="1"/>
          <p:nvPr/>
        </p:nvSpPr>
        <p:spPr>
          <a:xfrm>
            <a:off x="1356626" y="678593"/>
            <a:ext cx="3647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경로</a:t>
            </a:r>
            <a:r>
              <a:rPr lang="en-US" altLang="ko-KR" sz="1200" b="1" dirty="0"/>
              <a:t>: /auth/signup</a:t>
            </a:r>
            <a:endParaRPr lang="ko-KR" altLang="en-US" sz="1200" b="1" dirty="0"/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8E8DACEB-994C-4DB5-B8E8-7EE3CBE33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742199"/>
              </p:ext>
            </p:extLst>
          </p:nvPr>
        </p:nvGraphicFramePr>
        <p:xfrm>
          <a:off x="8032090" y="619715"/>
          <a:ext cx="3976490" cy="4380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6452">
                  <a:extLst>
                    <a:ext uri="{9D8B030D-6E8A-4147-A177-3AD203B41FA5}">
                      <a16:colId xmlns:a16="http://schemas.microsoft.com/office/drawing/2014/main" val="360676869"/>
                    </a:ext>
                  </a:extLst>
                </a:gridCol>
                <a:gridCol w="3290038">
                  <a:extLst>
                    <a:ext uri="{9D8B030D-6E8A-4147-A177-3AD203B41FA5}">
                      <a16:colId xmlns:a16="http://schemas.microsoft.com/office/drawing/2014/main" val="2786339036"/>
                    </a:ext>
                  </a:extLst>
                </a:gridCol>
              </a:tblGrid>
              <a:tr h="3628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No.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89784"/>
                  </a:ext>
                </a:extLst>
              </a:tr>
              <a:tr h="18784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회원가입 폼 입력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algn="just" latinLnBrk="1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상단의 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Sign up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버튼을 이용해서 로그인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 /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회원가입 페이지로 자유롭게 전환할 수 있습니다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회원가입 시 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ID, Password, Email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을 입력해야 합니다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비밀번호 검증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, Email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형식 검증을 통해 회원가입이 진행되며 검증 실패 시 알림창이 화면에 보여집니다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19915"/>
                  </a:ext>
                </a:extLst>
              </a:tr>
              <a:tr h="18784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770" b="1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177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회원가입 실패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  <a:p>
                      <a:pPr algn="just" latinLnBrk="1"/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비밀번호 일치 확인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, Email </a:t>
                      </a:r>
                      <a:r>
                        <a:rPr lang="ko-KR" altLang="en-US" sz="1030" b="0" dirty="0">
                          <a:solidFill>
                            <a:schemeClr val="tx1"/>
                          </a:solidFill>
                        </a:rPr>
                        <a:t>형식 검증을 통해 회원가입이 진행되며 검증 실패 시 알림창이 화면에 보여집니다</a:t>
                      </a:r>
                      <a:r>
                        <a:rPr lang="en-US" altLang="ko-KR" sz="103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15967"/>
                  </a:ext>
                </a:extLst>
              </a:tr>
            </a:tbl>
          </a:graphicData>
        </a:graphic>
      </p:graphicFrame>
      <p:grpSp>
        <p:nvGrpSpPr>
          <p:cNvPr id="17" name="그룹 16">
            <a:extLst>
              <a:ext uri="{FF2B5EF4-FFF2-40B4-BE49-F238E27FC236}">
                <a16:creationId xmlns:a16="http://schemas.microsoft.com/office/drawing/2014/main" id="{1DCA4851-36FF-4E46-84D0-76A082467A86}"/>
              </a:ext>
            </a:extLst>
          </p:cNvPr>
          <p:cNvGrpSpPr/>
          <p:nvPr/>
        </p:nvGrpSpPr>
        <p:grpSpPr>
          <a:xfrm>
            <a:off x="1016667" y="1352550"/>
            <a:ext cx="6565900" cy="4208922"/>
            <a:chOff x="1016667" y="1352550"/>
            <a:chExt cx="6565900" cy="4208922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29E3CE9-FD5D-4C76-8F1A-5DD650FEA9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77368" r="1153" b="4511"/>
            <a:stretch/>
          </p:blipFill>
          <p:spPr>
            <a:xfrm>
              <a:off x="1016667" y="4780491"/>
              <a:ext cx="6565900" cy="780981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8959DD0F-A60C-4E18-B5FA-3EFCD0CCD1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8796" r="926" b="8345"/>
            <a:stretch/>
          </p:blipFill>
          <p:spPr>
            <a:xfrm>
              <a:off x="1016667" y="1352550"/>
              <a:ext cx="6558084" cy="3427941"/>
            </a:xfrm>
            <a:prstGeom prst="rect">
              <a:avLst/>
            </a:prstGeom>
          </p:spPr>
        </p:pic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AE28ECF3-4806-4206-B20F-3747C8AD3E2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248" t="22976" r="27257" b="9630"/>
          <a:stretch/>
        </p:blipFill>
        <p:spPr>
          <a:xfrm>
            <a:off x="2739694" y="2009913"/>
            <a:ext cx="3112030" cy="270298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4A602F2-EE92-468E-99D5-79BEE44872F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2778" r="1968" b="9087"/>
          <a:stretch/>
        </p:blipFill>
        <p:spPr>
          <a:xfrm>
            <a:off x="1016667" y="1897437"/>
            <a:ext cx="6558084" cy="284881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6BE827F-7609-4665-BA30-08F0DE38EED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0035" t="26852" r="30556" b="5648"/>
          <a:stretch/>
        </p:blipFill>
        <p:spPr>
          <a:xfrm>
            <a:off x="5273123" y="1978007"/>
            <a:ext cx="2075302" cy="2221579"/>
          </a:xfrm>
          <a:prstGeom prst="rect">
            <a:avLst/>
          </a:prstGeom>
        </p:spPr>
      </p:pic>
      <p:pic>
        <p:nvPicPr>
          <p:cNvPr id="18" name="Picture 4" descr="1 번">
            <a:extLst>
              <a:ext uri="{FF2B5EF4-FFF2-40B4-BE49-F238E27FC236}">
                <a16:creationId xmlns:a16="http://schemas.microsoft.com/office/drawing/2014/main" id="{20B968F8-3FC3-4DD1-B771-2A40664FE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6435" y="2841557"/>
            <a:ext cx="257978" cy="25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F10AD07-FB3F-4F8E-B862-6A254B57CE43}"/>
              </a:ext>
            </a:extLst>
          </p:cNvPr>
          <p:cNvCxnSpPr>
            <a:cxnSpLocks/>
          </p:cNvCxnSpPr>
          <p:nvPr/>
        </p:nvCxnSpPr>
        <p:spPr>
          <a:xfrm flipH="1" flipV="1">
            <a:off x="7061265" y="3720722"/>
            <a:ext cx="1215351" cy="685959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21" name="Picture 6" descr="2 번">
            <a:extLst>
              <a:ext uri="{FF2B5EF4-FFF2-40B4-BE49-F238E27FC236}">
                <a16:creationId xmlns:a16="http://schemas.microsoft.com/office/drawing/2014/main" id="{4A395D66-7065-491A-A91D-A0E47579F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2355" y="2098069"/>
            <a:ext cx="265154" cy="265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70871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3DBA294-2F07-4082-9EB7-84D473E976A0}"/>
              </a:ext>
            </a:extLst>
          </p:cNvPr>
          <p:cNvSpPr/>
          <p:nvPr/>
        </p:nvSpPr>
        <p:spPr>
          <a:xfrm>
            <a:off x="-20" y="1"/>
            <a:ext cx="12192000" cy="623072"/>
          </a:xfrm>
          <a:prstGeom prst="rect">
            <a:avLst/>
          </a:prstGeom>
          <a:solidFill>
            <a:srgbClr val="19875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198754"/>
              </a:solidFill>
              <a:effectLst/>
              <a:uLnTx/>
              <a:uFillTx/>
              <a:latin typeface="Microsoft GothicNeo"/>
              <a:ea typeface="+mn-ea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026BE46-E9E7-4A77-9BD0-3E2627567B20}"/>
              </a:ext>
            </a:extLst>
          </p:cNvPr>
          <p:cNvSpPr/>
          <p:nvPr/>
        </p:nvSpPr>
        <p:spPr>
          <a:xfrm>
            <a:off x="-20" y="6344356"/>
            <a:ext cx="12192000" cy="521078"/>
          </a:xfrm>
          <a:prstGeom prst="rect">
            <a:avLst/>
          </a:prstGeom>
          <a:solidFill>
            <a:srgbClr val="19875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GothicNeo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2AF072-BE3A-4B4C-A862-9A14CE1335C3}"/>
              </a:ext>
            </a:extLst>
          </p:cNvPr>
          <p:cNvSpPr txBox="1"/>
          <p:nvPr/>
        </p:nvSpPr>
        <p:spPr>
          <a:xfrm>
            <a:off x="3822316" y="881379"/>
            <a:ext cx="5034012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b="1" dirty="0"/>
              <a:t>홈페이지 수정 및</a:t>
            </a:r>
            <a:r>
              <a:rPr lang="en-US" altLang="ko-KR" sz="2300" b="1" dirty="0"/>
              <a:t> </a:t>
            </a:r>
            <a:r>
              <a:rPr lang="ko-KR" altLang="en-US" sz="2300" b="1" dirty="0"/>
              <a:t>추가 할 내역</a:t>
            </a:r>
          </a:p>
        </p:txBody>
      </p:sp>
      <p:graphicFrame>
        <p:nvGraphicFramePr>
          <p:cNvPr id="9" name="표 13">
            <a:extLst>
              <a:ext uri="{FF2B5EF4-FFF2-40B4-BE49-F238E27FC236}">
                <a16:creationId xmlns:a16="http://schemas.microsoft.com/office/drawing/2014/main" id="{1593CA62-F79C-409B-B29F-FE47DFC29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35081"/>
              </p:ext>
            </p:extLst>
          </p:nvPr>
        </p:nvGraphicFramePr>
        <p:xfrm>
          <a:off x="1798611" y="1698177"/>
          <a:ext cx="8594737" cy="4153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4241">
                  <a:extLst>
                    <a:ext uri="{9D8B030D-6E8A-4147-A177-3AD203B41FA5}">
                      <a16:colId xmlns:a16="http://schemas.microsoft.com/office/drawing/2014/main" val="1413274187"/>
                    </a:ext>
                  </a:extLst>
                </a:gridCol>
                <a:gridCol w="7050496">
                  <a:extLst>
                    <a:ext uri="{9D8B030D-6E8A-4147-A177-3AD203B41FA5}">
                      <a16:colId xmlns:a16="http://schemas.microsoft.com/office/drawing/2014/main" val="3677196989"/>
                    </a:ext>
                  </a:extLst>
                </a:gridCol>
              </a:tblGrid>
              <a:tr h="4741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Page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ABOUT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196703"/>
                  </a:ext>
                </a:extLst>
              </a:tr>
              <a:tr h="4088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LSD</a:t>
                      </a:r>
                      <a:r>
                        <a:rPr lang="ko-KR" altLang="en-US" sz="1200" dirty="0"/>
                        <a:t> 시뮬레이션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그래프 디자인 </a:t>
                      </a:r>
                      <a:r>
                        <a:rPr lang="en-US" altLang="ko-KR" sz="1200" dirty="0"/>
                        <a:t>UI UX </a:t>
                      </a:r>
                      <a:r>
                        <a:rPr lang="ko-KR" altLang="en-US" sz="1200" dirty="0"/>
                        <a:t>개선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122861"/>
                  </a:ext>
                </a:extLst>
              </a:tr>
              <a:tr h="4088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방역 시설 정보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기존 마크 형식의 카카오맵을 폴리곤 형식으로 바꾼다</a:t>
                      </a:r>
                      <a:r>
                        <a:rPr lang="en-US" altLang="ko-KR" sz="1200" dirty="0"/>
                        <a:t>.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529223"/>
                  </a:ext>
                </a:extLst>
              </a:tr>
              <a:tr h="4088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게시판 </a:t>
                      </a:r>
                      <a:r>
                        <a:rPr lang="en-US" altLang="ko-KR" sz="1200" dirty="0"/>
                        <a:t>– </a:t>
                      </a:r>
                      <a:r>
                        <a:rPr lang="ko-KR" altLang="en-US" sz="1200" dirty="0"/>
                        <a:t>질문등록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질문 등록 폼 </a:t>
                      </a:r>
                      <a:r>
                        <a:rPr lang="en-US" altLang="ko-KR" sz="1200" dirty="0"/>
                        <a:t>UI </a:t>
                      </a:r>
                      <a:r>
                        <a:rPr lang="ko-KR" altLang="en-US" sz="1200" dirty="0"/>
                        <a:t>개선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045420"/>
                  </a:ext>
                </a:extLst>
              </a:tr>
              <a:tr h="4088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게시판 </a:t>
                      </a:r>
                      <a:r>
                        <a:rPr lang="en-US" altLang="ko-KR" sz="1200" dirty="0"/>
                        <a:t>– </a:t>
                      </a:r>
                      <a:r>
                        <a:rPr lang="ko-KR" altLang="en-US" sz="1200" dirty="0"/>
                        <a:t>답변 등록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답변 등록 폼 </a:t>
                      </a:r>
                      <a:r>
                        <a:rPr lang="en-US" altLang="ko-KR" sz="1200" dirty="0"/>
                        <a:t>UI </a:t>
                      </a:r>
                      <a:r>
                        <a:rPr lang="ko-KR" altLang="en-US" sz="1200" dirty="0"/>
                        <a:t>개선</a:t>
                      </a:r>
                      <a:r>
                        <a:rPr lang="en-US" altLang="ko-KR" sz="1200" dirty="0"/>
                        <a:t>. </a:t>
                      </a:r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828054"/>
                  </a:ext>
                </a:extLst>
              </a:tr>
              <a:tr h="4088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챗봇 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UX </a:t>
                      </a:r>
                      <a:r>
                        <a:rPr lang="ko-KR" altLang="en-US" sz="1200" dirty="0"/>
                        <a:t>개선을 위해 화면 크기 증가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488732"/>
                  </a:ext>
                </a:extLst>
              </a:tr>
              <a:tr h="4088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전체 홈페이지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하단에 챗봇 아이콘 추가 및 클릭 시 챗봇 대화 팝업 생성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2690125"/>
                  </a:ext>
                </a:extLst>
              </a:tr>
              <a:tr h="408809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733389"/>
                  </a:ext>
                </a:extLst>
              </a:tr>
              <a:tr h="408809"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528306"/>
                  </a:ext>
                </a:extLst>
              </a:tr>
              <a:tr h="40880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667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974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2264</TotalTime>
  <Words>1775</Words>
  <Application>Microsoft Office PowerPoint</Application>
  <PresentationFormat>와이드스크린</PresentationFormat>
  <Paragraphs>391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6" baseType="lpstr">
      <vt:lpstr>Microsoft GothicNeo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bae seoungchan</dc:creator>
  <cp:lastModifiedBy>bae seoungchan</cp:lastModifiedBy>
  <cp:revision>58</cp:revision>
  <dcterms:created xsi:type="dcterms:W3CDTF">2025-02-19T17:22:55Z</dcterms:created>
  <dcterms:modified xsi:type="dcterms:W3CDTF">2025-06-16T10:33:47Z</dcterms:modified>
</cp:coreProperties>
</file>