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693400" cy="7569200"/>
  <p:notesSz cx="6858000" cy="9144000"/>
  <p:embeddedFontLst>
    <p:embeddedFont>
      <p:font typeface="NanumSquareRoundOTF Bold" panose="020B0600000101010101" charset="-127"/>
      <p:bold r:id="rId13"/>
    </p:embeddedFont>
    <p:embeddedFont>
      <p:font typeface="Pretendard Bold" panose="020B0600000101010101" charset="-127"/>
      <p:bold r:id="rId14"/>
    </p:embeddedFont>
    <p:embeddedFont>
      <p:font typeface="Pretendard Medium" panose="020B0600000101010101" charset="-127"/>
      <p:bold r:id="rId15"/>
    </p:embeddedFont>
    <p:embeddedFont>
      <p:font typeface="Pretendard Regular" panose="020B0600000101010101" charset="-127"/>
      <p:regular r:id="rId16"/>
    </p:embeddedFont>
    <p:embeddedFont>
      <p:font typeface="Pretendard SemiBold" panose="020B0600000101010101" charset="-127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viar Dreams" panose="020B0600000101010101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7" d="100"/>
          <a:sy n="97" d="100"/>
        </p:scale>
        <p:origin x="1008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2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18800" cy="965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03250" y="2882900"/>
            <a:ext cx="95123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4580"/>
              </a:lnSpc>
            </a:pPr>
            <a:r>
              <a:rPr lang="ko-KR" sz="5000" b="0" i="0" u="none" strike="noStrike" spc="-100" dirty="0">
                <a:solidFill>
                  <a:srgbClr val="568A35"/>
                </a:solidFill>
                <a:ea typeface="Pretendard SemiBold"/>
              </a:rPr>
              <a:t>가축</a:t>
            </a:r>
            <a:r>
              <a:rPr lang="en-US" sz="5000" b="0" i="0" u="none" strike="noStrike" spc="-100" dirty="0">
                <a:solidFill>
                  <a:srgbClr val="568A35"/>
                </a:solidFill>
                <a:latin typeface="Pretendard SemiBold"/>
              </a:rPr>
              <a:t> </a:t>
            </a:r>
            <a:r>
              <a:rPr lang="ko-KR" sz="5000" b="0" i="0" u="none" strike="noStrike" spc="-100" dirty="0">
                <a:solidFill>
                  <a:srgbClr val="568A35"/>
                </a:solidFill>
                <a:ea typeface="Pretendard SemiBold"/>
              </a:rPr>
              <a:t>전염병</a:t>
            </a:r>
            <a:r>
              <a:rPr lang="en-US" sz="5000" b="0" i="0" u="none" strike="noStrike" spc="-100" dirty="0">
                <a:solidFill>
                  <a:srgbClr val="568A35"/>
                </a:solidFill>
                <a:latin typeface="Pretendard SemiBold"/>
              </a:rPr>
              <a:t> </a:t>
            </a:r>
            <a:r>
              <a:rPr lang="ko-KR" sz="5000" b="0" i="0" u="none" strike="noStrike" spc="-100" dirty="0">
                <a:solidFill>
                  <a:srgbClr val="568A35"/>
                </a:solidFill>
                <a:ea typeface="Pretendard SemiBold"/>
              </a:rPr>
              <a:t>전파</a:t>
            </a:r>
            <a:r>
              <a:rPr lang="en-US" sz="5000" b="0" i="0" u="none" strike="noStrike" spc="-100" dirty="0">
                <a:solidFill>
                  <a:srgbClr val="568A35"/>
                </a:solidFill>
                <a:latin typeface="Pretendard SemiBold"/>
              </a:rPr>
              <a:t> </a:t>
            </a:r>
            <a:r>
              <a:rPr lang="ko-KR" sz="5000" b="0" i="0" u="none" strike="noStrike" spc="-100" dirty="0">
                <a:solidFill>
                  <a:srgbClr val="568A35"/>
                </a:solidFill>
                <a:ea typeface="Pretendard SemiBold"/>
              </a:rPr>
              <a:t>예측</a:t>
            </a:r>
            <a:r>
              <a:rPr lang="en-US" sz="5000" b="0" i="0" u="none" strike="noStrike" spc="-100" dirty="0">
                <a:solidFill>
                  <a:srgbClr val="568A35"/>
                </a:solidFill>
                <a:latin typeface="Pretendard SemiBold"/>
              </a:rPr>
              <a:t> </a:t>
            </a:r>
            <a:r>
              <a:rPr lang="ko-KR" sz="5000" b="0" i="0" u="none" strike="noStrike" spc="-100" dirty="0">
                <a:solidFill>
                  <a:srgbClr val="568A35"/>
                </a:solidFill>
                <a:ea typeface="Pretendard SemiBold"/>
              </a:rPr>
              <a:t>서비스</a:t>
            </a:r>
            <a:r>
              <a:rPr lang="en-US" sz="5000" b="0" i="0" u="none" strike="noStrike" spc="-100" dirty="0">
                <a:solidFill>
                  <a:srgbClr val="568A35"/>
                </a:solidFill>
                <a:latin typeface="Pretendard SemiBold"/>
              </a:rPr>
              <a:t>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56700" y="6489700"/>
            <a:ext cx="16510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1700" i="0" u="none" strike="noStrike" dirty="0">
                <a:ea typeface="Pretendard Regular"/>
              </a:rPr>
              <a:t>SOSCOW</a:t>
            </a:r>
          </a:p>
          <a:p>
            <a:pPr lvl="0">
              <a:lnSpc>
                <a:spcPct val="99600"/>
              </a:lnSpc>
            </a:pPr>
            <a:r>
              <a:rPr lang="ko-KR" sz="1700" i="0" u="none" strike="noStrike" dirty="0">
                <a:ea typeface="Pretendard Regular"/>
              </a:rPr>
              <a:t>작성자</a:t>
            </a:r>
            <a:r>
              <a:rPr lang="en-US" sz="1700" i="0" u="none" strike="noStrike" dirty="0">
                <a:latin typeface="Pretendard Regular"/>
              </a:rPr>
              <a:t>: </a:t>
            </a:r>
            <a:r>
              <a:rPr lang="ko-KR" sz="1700" i="0" u="none" strike="noStrike" dirty="0">
                <a:ea typeface="Pretendard Regular"/>
              </a:rPr>
              <a:t>배윤주</a:t>
            </a:r>
            <a:endParaRPr lang="en-US" altLang="ko-KR" sz="1700" i="0" u="none" strike="noStrike" dirty="0">
              <a:ea typeface="Pretendard Regular"/>
            </a:endParaRPr>
          </a:p>
          <a:p>
            <a:pPr lvl="0">
              <a:lnSpc>
                <a:spcPct val="99600"/>
              </a:lnSpc>
            </a:pPr>
            <a:r>
              <a:rPr lang="ko-KR" altLang="en-US" sz="1700" i="0" u="none" strike="noStrike" dirty="0">
                <a:ea typeface="Pretendard Regular"/>
              </a:rPr>
              <a:t>문서번호</a:t>
            </a:r>
            <a:r>
              <a:rPr lang="en-US" altLang="ko-KR" sz="1700" i="0" u="none" strike="noStrike" dirty="0">
                <a:ea typeface="Pretendard Regular"/>
              </a:rPr>
              <a:t>: ver1.0</a:t>
            </a:r>
          </a:p>
          <a:p>
            <a:pPr lvl="0">
              <a:lnSpc>
                <a:spcPct val="99600"/>
              </a:lnSpc>
            </a:pPr>
            <a:endParaRPr lang="ko-KR" sz="1700" b="0" i="0" u="none" strike="noStrike" dirty="0">
              <a:solidFill>
                <a:srgbClr val="787878"/>
              </a:solidFill>
              <a:ea typeface="Pretendard Regular"/>
            </a:endParaRPr>
          </a:p>
          <a:p>
            <a:pPr lvl="0">
              <a:lnSpc>
                <a:spcPct val="99600"/>
              </a:lnSpc>
            </a:pPr>
            <a:endParaRPr lang="ko-KR" sz="1700" b="0" i="0" u="none" strike="noStrike" dirty="0">
              <a:solidFill>
                <a:srgbClr val="787878"/>
              </a:solidFill>
              <a:ea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13150" y="431800"/>
            <a:ext cx="3467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275"/>
              </a:lnSpc>
            </a:pPr>
            <a:r>
              <a:rPr lang="ko-KR" sz="4200" b="1" i="0" u="none" strike="noStrike" spc="100" dirty="0">
                <a:solidFill>
                  <a:srgbClr val="568A35"/>
                </a:solidFill>
                <a:ea typeface="Caviar Dreams"/>
              </a:rPr>
              <a:t>문서변경사항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F497B51-0ED4-4412-8DCF-C74429453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52520"/>
              </p:ext>
            </p:extLst>
          </p:nvPr>
        </p:nvGraphicFramePr>
        <p:xfrm>
          <a:off x="1384300" y="2108200"/>
          <a:ext cx="777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65231607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0352155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87539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업데이트 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문서번호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변경 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340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24.12.19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Ver0.1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프로젝트 기획 초안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0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24.12.30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Ver0.2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프로젝트 기획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17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25.02.21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Ver0.3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프로젝트 개발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46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25.03.29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Ver1.0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기획서 디자인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6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3200" y="1803400"/>
            <a:ext cx="24003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396"/>
              </a:lnSpc>
            </a:pPr>
            <a:r>
              <a:rPr lang="en-US" sz="2700" b="1" i="0" u="none" strike="noStrike">
                <a:solidFill>
                  <a:srgbClr val="568A35"/>
                </a:solidFill>
                <a:latin typeface="Pretendard SemiBold"/>
              </a:rPr>
              <a:t>01.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기획</a:t>
            </a:r>
            <a:r>
              <a:rPr lang="en-US" sz="27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의도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73200" y="3530600"/>
            <a:ext cx="3086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396"/>
              </a:lnSpc>
            </a:pPr>
            <a:r>
              <a:rPr lang="en-US" sz="2700" b="1" i="0" u="none" strike="noStrike">
                <a:solidFill>
                  <a:srgbClr val="568A35"/>
                </a:solidFill>
                <a:latin typeface="Pretendard SemiBold"/>
              </a:rPr>
              <a:t>02.</a:t>
            </a:r>
            <a:r>
              <a:rPr lang="en-US" sz="2700" b="1" i="0" u="none" strike="noStrike">
                <a:solidFill>
                  <a:srgbClr val="456E2A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개발</a:t>
            </a:r>
            <a:r>
              <a:rPr lang="en-US" sz="27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목표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8600" y="5270500"/>
            <a:ext cx="22479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396"/>
              </a:lnSpc>
            </a:pPr>
            <a:r>
              <a:rPr lang="en-US" sz="2700" b="1" i="0" u="none" strike="noStrike">
                <a:solidFill>
                  <a:srgbClr val="568A35"/>
                </a:solidFill>
                <a:latin typeface="Pretendard SemiBold"/>
              </a:rPr>
              <a:t>03.</a:t>
            </a:r>
            <a:r>
              <a:rPr lang="en-US" sz="2700" b="1" i="0" u="none" strike="noStrike">
                <a:solidFill>
                  <a:srgbClr val="456E2A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기대</a:t>
            </a:r>
            <a:r>
              <a:rPr lang="en-US" sz="27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효과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0"/>
            <a:ext cx="10718800" cy="965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273800" y="1803400"/>
            <a:ext cx="38227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396"/>
              </a:lnSpc>
            </a:pPr>
            <a:r>
              <a:rPr lang="en-US" sz="2700" b="1" i="0" u="none" strike="noStrike">
                <a:solidFill>
                  <a:srgbClr val="568A35"/>
                </a:solidFill>
                <a:latin typeface="Pretendard SemiBold"/>
              </a:rPr>
              <a:t>04.</a:t>
            </a:r>
            <a:r>
              <a:rPr lang="en-US" sz="2700" b="1" i="0" u="none" strike="noStrike">
                <a:solidFill>
                  <a:srgbClr val="456E2A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향후</a:t>
            </a:r>
            <a:r>
              <a:rPr lang="en-US" sz="2700" b="1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1" i="0" u="none" strike="noStrike">
                <a:solidFill>
                  <a:srgbClr val="000000"/>
                </a:solidFill>
                <a:ea typeface="Pretendard SemiBold"/>
              </a:rPr>
              <a:t>계획</a:t>
            </a:r>
            <a:r>
              <a:rPr lang="en-US" sz="2700" b="1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6100" y="127000"/>
            <a:ext cx="1663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7275"/>
              </a:lnSpc>
            </a:pPr>
            <a:r>
              <a:rPr lang="ko-KR" sz="4200" b="1" i="0" u="none" strike="noStrike" spc="100" dirty="0">
                <a:solidFill>
                  <a:srgbClr val="FFFFFF"/>
                </a:solidFill>
                <a:ea typeface="Caviar Dreams"/>
              </a:rPr>
              <a:t>목차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2286000"/>
            <a:ext cx="3467100" cy="81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1244600"/>
            <a:ext cx="3378200" cy="977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4330700"/>
            <a:ext cx="26416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75000"/>
            <a:ext cx="33909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4300" y="5702300"/>
            <a:ext cx="47498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073900" y="4330700"/>
            <a:ext cx="990600" cy="990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7800" y="279400"/>
            <a:ext cx="876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8100" y="330200"/>
            <a:ext cx="25273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기획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의도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(1)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75200" y="1752600"/>
            <a:ext cx="5994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기후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축산업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밀집화로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인한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00" b="1" i="0" u="none" strike="noStrike">
                <a:solidFill>
                  <a:srgbClr val="FC5230"/>
                </a:solidFill>
                <a:ea typeface="Pretendard Bold"/>
              </a:rPr>
              <a:t>가축</a:t>
            </a:r>
            <a:r>
              <a:rPr lang="en-US" sz="27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600" b="1" i="0" u="none" strike="noStrike">
                <a:solidFill>
                  <a:srgbClr val="FC5230"/>
                </a:solidFill>
                <a:ea typeface="Pretendard Bold"/>
              </a:rPr>
              <a:t>전염병</a:t>
            </a:r>
            <a:r>
              <a:rPr lang="en-US" sz="26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600" b="1" i="0" u="none" strike="noStrike">
                <a:solidFill>
                  <a:srgbClr val="FC5230"/>
                </a:solidFill>
                <a:ea typeface="Pretendard Bold"/>
              </a:rPr>
              <a:t>위험</a:t>
            </a:r>
            <a:r>
              <a:rPr lang="en-US" sz="26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600" b="1" i="0" u="none" strike="noStrike">
                <a:solidFill>
                  <a:srgbClr val="FC5230"/>
                </a:solidFill>
                <a:ea typeface="Pretendard Bold"/>
              </a:rPr>
              <a:t>증가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86300" y="2705100"/>
            <a:ext cx="6350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300" b="1" i="0" u="none" strike="noStrike">
                <a:solidFill>
                  <a:srgbClr val="FC5230"/>
                </a:solidFill>
                <a:ea typeface="Pretendard Bold"/>
              </a:rPr>
              <a:t>럼피스킨병</a:t>
            </a:r>
            <a:r>
              <a:rPr lang="en-US" sz="2300" b="1" i="0" u="none" strike="noStrike">
                <a:solidFill>
                  <a:srgbClr val="FC5230"/>
                </a:solidFill>
                <a:latin typeface="Pretendard Bold"/>
              </a:rPr>
              <a:t>(LSD)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빠르게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확산되는</a:t>
            </a:r>
            <a:r>
              <a:rPr lang="en-US" sz="19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FC5230"/>
                </a:solidFill>
                <a:ea typeface="Pretendard Bold"/>
              </a:rPr>
              <a:t>국내</a:t>
            </a:r>
            <a:r>
              <a:rPr lang="en-US" sz="2200" b="1" i="0" u="none" strike="noStrike">
                <a:solidFill>
                  <a:srgbClr val="FC5230"/>
                </a:solidFill>
                <a:latin typeface="Pretendard Bold"/>
              </a:rPr>
              <a:t> 1</a:t>
            </a:r>
            <a:r>
              <a:rPr lang="ko-KR" sz="2200" b="1" i="0" u="none" strike="noStrike">
                <a:solidFill>
                  <a:srgbClr val="FC5230"/>
                </a:solidFill>
                <a:ea typeface="Pretendard Bold"/>
              </a:rPr>
              <a:t>종</a:t>
            </a:r>
            <a:r>
              <a:rPr lang="en-US" sz="22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200" b="1" i="0" u="none" strike="noStrike">
                <a:solidFill>
                  <a:srgbClr val="FC5230"/>
                </a:solidFill>
                <a:ea typeface="Pretendard Bold"/>
              </a:rPr>
              <a:t>가축</a:t>
            </a:r>
            <a:r>
              <a:rPr lang="en-US" sz="22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200" b="1" i="0" u="none" strike="noStrike">
                <a:solidFill>
                  <a:srgbClr val="FC5230"/>
                </a:solidFill>
                <a:ea typeface="Pretendard Bold"/>
              </a:rPr>
              <a:t>전염병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70500" y="3644900"/>
            <a:ext cx="54864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특히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4~5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월부터</a:t>
            </a:r>
            <a:r>
              <a:rPr lang="en-US" sz="19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1" i="0" u="none" strike="noStrike">
                <a:solidFill>
                  <a:srgbClr val="FC5230"/>
                </a:solidFill>
                <a:ea typeface="Pretendard Medium"/>
              </a:rPr>
              <a:t>흡혈곤충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의한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발병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위험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상승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37200" y="5956300"/>
            <a:ext cx="42164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지역별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축산업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기후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요인들이</a:t>
            </a:r>
          </a:p>
          <a:p>
            <a:pPr lvl="0" algn="ctr">
              <a:lnSpc>
                <a:spcPct val="99600"/>
              </a:lnSpc>
            </a:pP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감염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두수에</a:t>
            </a:r>
            <a:r>
              <a:rPr lang="en-US" sz="2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Regular"/>
              </a:rPr>
              <a:t>영향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2552700"/>
            <a:ext cx="3403600" cy="157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600200"/>
            <a:ext cx="3848100" cy="83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4152900"/>
            <a:ext cx="3632200" cy="1803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264400" y="4279900"/>
            <a:ext cx="876300" cy="876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77800" y="279400"/>
            <a:ext cx="8001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8100" y="330200"/>
            <a:ext cx="2590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기획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의도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(2)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73600" y="1879600"/>
            <a:ext cx="6045200" cy="191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감염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개체는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육질이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떨어져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  </a:t>
            </a:r>
            <a:r>
              <a:rPr lang="ko-KR" sz="2700" b="1" i="0" u="none" strike="noStrike">
                <a:solidFill>
                  <a:srgbClr val="FC5230"/>
                </a:solidFill>
                <a:ea typeface="Pretendard Bold"/>
              </a:rPr>
              <a:t>식용</a:t>
            </a:r>
            <a:r>
              <a:rPr lang="en-US" sz="27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700" b="1" i="0" u="none" strike="noStrike">
                <a:solidFill>
                  <a:srgbClr val="FC5230"/>
                </a:solidFill>
                <a:ea typeface="Pretendard Bold"/>
              </a:rPr>
              <a:t>판매</a:t>
            </a:r>
            <a:r>
              <a:rPr lang="en-US" sz="2700" b="1" i="0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700" b="1" i="0" u="none" strike="noStrike">
                <a:solidFill>
                  <a:srgbClr val="FC5230"/>
                </a:solidFill>
                <a:ea typeface="Pretendard Bold"/>
              </a:rPr>
              <a:t>불가</a:t>
            </a:r>
          </a:p>
          <a:p>
            <a:pPr lvl="0" algn="ctr">
              <a:lnSpc>
                <a:spcPct val="99600"/>
              </a:lnSpc>
            </a:pPr>
            <a:endParaRPr lang="ko-KR" sz="2700" b="1" i="0" u="none" strike="noStrike">
              <a:solidFill>
                <a:srgbClr val="FC5230"/>
              </a:solidFill>
              <a:ea typeface="Pretendard Bold"/>
            </a:endParaRPr>
          </a:p>
          <a:p>
            <a:pPr lvl="0" algn="ctr">
              <a:lnSpc>
                <a:spcPct val="99600"/>
              </a:lnSpc>
            </a:pP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불임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유량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감소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생산성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저하로</a:t>
            </a:r>
            <a:r>
              <a:rPr lang="en-US" sz="18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Pretendard Regular"/>
              </a:rPr>
              <a:t>인한</a:t>
            </a:r>
            <a:r>
              <a:rPr lang="en-US" sz="2200" b="1" i="0" u="none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2700" b="1" i="0" u="none" strike="noStrike">
                <a:solidFill>
                  <a:srgbClr val="FC5230"/>
                </a:solidFill>
                <a:ea typeface="Pretendard SemiBold"/>
              </a:rPr>
              <a:t>폐사</a:t>
            </a:r>
          </a:p>
          <a:p>
            <a:pPr lvl="0" algn="ctr">
              <a:lnSpc>
                <a:spcPct val="99600"/>
              </a:lnSpc>
            </a:pPr>
            <a:endParaRPr lang="ko-KR" sz="2700" b="1" i="0" u="none" strike="noStrike">
              <a:solidFill>
                <a:srgbClr val="FC5230"/>
              </a:solidFill>
              <a:ea typeface="Pretendard SemiBold"/>
            </a:endParaRPr>
          </a:p>
          <a:p>
            <a:pPr lvl="0" algn="ctr">
              <a:lnSpc>
                <a:spcPct val="99600"/>
              </a:lnSpc>
            </a:pPr>
            <a:r>
              <a:rPr lang="ko-KR" sz="2300" b="1" i="0" u="none" strike="noStrike">
                <a:solidFill>
                  <a:srgbClr val="FC5230"/>
                </a:solidFill>
                <a:ea typeface="Pretendard SemiBold"/>
              </a:rPr>
              <a:t>감염</a:t>
            </a:r>
            <a:r>
              <a:rPr lang="en-US" sz="2300" b="1" i="0" u="none" strike="noStrike">
                <a:solidFill>
                  <a:srgbClr val="FC5230"/>
                </a:solidFill>
                <a:latin typeface="Pretendard SemiBold"/>
              </a:rPr>
              <a:t> </a:t>
            </a:r>
            <a:r>
              <a:rPr lang="ko-KR" sz="2300" b="1" i="0" u="none" strike="noStrike">
                <a:solidFill>
                  <a:srgbClr val="FC5230"/>
                </a:solidFill>
                <a:ea typeface="Pretendard SemiBold"/>
              </a:rPr>
              <a:t>확산</a:t>
            </a:r>
            <a:r>
              <a:rPr lang="en-US" sz="2300" b="1" i="0" u="none" strike="noStrike">
                <a:solidFill>
                  <a:srgbClr val="FC5230"/>
                </a:solidFill>
                <a:latin typeface="Pretendard SemiBold"/>
              </a:rPr>
              <a:t> </a:t>
            </a:r>
            <a:r>
              <a:rPr lang="ko-KR" sz="2300" b="1" i="0" u="none" strike="noStrike">
                <a:solidFill>
                  <a:srgbClr val="FC5230"/>
                </a:solidFill>
                <a:ea typeface="Pretendard SemiBold"/>
              </a:rPr>
              <a:t>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1" i="0" u="none" strike="noStrike">
                <a:solidFill>
                  <a:srgbClr val="000000"/>
                </a:solidFill>
                <a:ea typeface="Pretendard Regular"/>
              </a:rPr>
              <a:t>시장</a:t>
            </a:r>
            <a:r>
              <a:rPr lang="en-US" sz="2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1" i="0" u="none" strike="noStrike">
                <a:solidFill>
                  <a:srgbClr val="000000"/>
                </a:solidFill>
                <a:ea typeface="Pretendard Regular"/>
              </a:rPr>
              <a:t>신뢰도</a:t>
            </a:r>
            <a:r>
              <a:rPr lang="en-US" sz="2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1" i="0" u="none" strike="noStrike">
                <a:solidFill>
                  <a:srgbClr val="000000"/>
                </a:solidFill>
                <a:ea typeface="Pretendard Regular"/>
              </a:rPr>
              <a:t>하락으로</a:t>
            </a:r>
            <a:r>
              <a:rPr lang="en-US" sz="21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1" i="0" u="none" strike="noStrike">
                <a:solidFill>
                  <a:srgbClr val="000000"/>
                </a:solidFill>
                <a:ea typeface="Pretendard Regular"/>
              </a:rPr>
              <a:t>인한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1" i="0" u="none" strike="noStrike">
                <a:solidFill>
                  <a:srgbClr val="FC5230"/>
                </a:solidFill>
                <a:ea typeface="Pretendard SemiBold"/>
              </a:rPr>
              <a:t>경제적</a:t>
            </a:r>
            <a:r>
              <a:rPr lang="en-US" sz="2300" b="1" i="0" u="none" strike="noStrike">
                <a:solidFill>
                  <a:srgbClr val="FC5230"/>
                </a:solidFill>
                <a:latin typeface="Pretendard SemiBold"/>
              </a:rPr>
              <a:t> </a:t>
            </a:r>
            <a:r>
              <a:rPr lang="ko-KR" sz="2300" b="1" i="0" u="none" strike="noStrike">
                <a:solidFill>
                  <a:srgbClr val="FC5230"/>
                </a:solidFill>
                <a:ea typeface="Pretendard SemiBold"/>
              </a:rPr>
              <a:t>피해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21300" y="5422900"/>
            <a:ext cx="4953000" cy="77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축산업이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가장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활발한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충청남도를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중심으로</a:t>
            </a:r>
          </a:p>
          <a:p>
            <a:pPr lvl="0" algn="ct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7DB249"/>
                </a:solidFill>
                <a:latin typeface="Pretendard Regular"/>
              </a:rPr>
              <a:t>"</a:t>
            </a:r>
            <a:r>
              <a:rPr lang="ko-KR" sz="2500" b="1" i="0" u="none" strike="noStrike">
                <a:solidFill>
                  <a:srgbClr val="7DB249"/>
                </a:solidFill>
                <a:ea typeface="Pretendard Regular"/>
              </a:rPr>
              <a:t>럼피스킨</a:t>
            </a:r>
            <a:r>
              <a:rPr lang="en-US" sz="2500" b="1" i="0" u="none" strike="noStrike">
                <a:solidFill>
                  <a:srgbClr val="7DB249"/>
                </a:solidFill>
                <a:latin typeface="Pretendard Regular"/>
              </a:rPr>
              <a:t> </a:t>
            </a:r>
            <a:r>
              <a:rPr lang="ko-KR" sz="2500" b="1" i="0" u="none" strike="noStrike">
                <a:solidFill>
                  <a:srgbClr val="7DB249"/>
                </a:solidFill>
                <a:ea typeface="Pretendard Regular"/>
              </a:rPr>
              <a:t>전파</a:t>
            </a:r>
            <a:r>
              <a:rPr lang="en-US" sz="2500" b="1" i="0" u="none" strike="noStrike">
                <a:solidFill>
                  <a:srgbClr val="7DB249"/>
                </a:solidFill>
                <a:latin typeface="Pretendard Regular"/>
              </a:rPr>
              <a:t> </a:t>
            </a:r>
            <a:r>
              <a:rPr lang="ko-KR" sz="2500" b="1" i="0" u="none" strike="noStrike">
                <a:solidFill>
                  <a:srgbClr val="7DB249"/>
                </a:solidFill>
                <a:ea typeface="Pretendard Regular"/>
              </a:rPr>
              <a:t>예측</a:t>
            </a:r>
            <a:r>
              <a:rPr lang="en-US" sz="2500" b="1" i="0" u="none" strike="noStrike">
                <a:solidFill>
                  <a:srgbClr val="7DB249"/>
                </a:solidFill>
                <a:latin typeface="Pretendard Regular"/>
              </a:rPr>
              <a:t>"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하고자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1" i="0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22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2000" y="6184900"/>
            <a:ext cx="3721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endParaRPr/>
          </a:p>
          <a:p>
            <a:pPr lvl="0" algn="ctr">
              <a:lnSpc>
                <a:spcPct val="99600"/>
              </a:lnSpc>
            </a:pPr>
            <a:endParaRPr/>
          </a:p>
          <a:p>
            <a:pPr lvl="0" algn="ctr">
              <a:lnSpc>
                <a:spcPct val="99600"/>
              </a:lnSpc>
            </a:pP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농가의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피해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최소화를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위해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시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군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구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단위의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럼피스킨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전파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가능성을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예측하는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서비스를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제안하고자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595959"/>
                </a:solidFill>
                <a:ea typeface="Pretendard Regular"/>
              </a:rPr>
              <a:t>한다</a:t>
            </a:r>
            <a:r>
              <a:rPr lang="en-US" sz="1200" b="0" i="0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63800"/>
            <a:ext cx="4152900" cy="391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2463800"/>
            <a:ext cx="4089400" cy="391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4216400"/>
            <a:ext cx="1790700" cy="134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500" y="4203700"/>
            <a:ext cx="1790700" cy="134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00" y="3276600"/>
            <a:ext cx="2730500" cy="520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124200" y="4699000"/>
            <a:ext cx="660400" cy="660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7800" y="279400"/>
            <a:ext cx="876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8100" y="330200"/>
            <a:ext cx="25273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개발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목표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(1)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800" y="1168400"/>
            <a:ext cx="73533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시간별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럼피스킨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전파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경향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확산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범위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예측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2197100"/>
            <a:ext cx="660400" cy="660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159500" y="2235200"/>
            <a:ext cx="317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714"/>
              </a:lnSpc>
            </a:pPr>
            <a:r>
              <a:rPr lang="en-US" sz="3000" b="0" i="0" u="none" strike="noStrike" spc="-200">
                <a:solidFill>
                  <a:srgbClr val="9BD97D"/>
                </a:solidFill>
                <a:latin typeface="NanumSquareRoundOTF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5300" y="2616200"/>
            <a:ext cx="31623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다음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날짜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,  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정량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결과를</a:t>
            </a:r>
            <a:r>
              <a:rPr lang="en-US" sz="15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Pretendard Regular"/>
              </a:rPr>
              <a:t>선택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2133600"/>
            <a:ext cx="660400" cy="660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409700" y="2171700"/>
            <a:ext cx="3175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714"/>
              </a:lnSpc>
            </a:pPr>
            <a:r>
              <a:rPr lang="en-US" sz="3000" b="0" i="0" u="none" strike="noStrike" spc="-200">
                <a:solidFill>
                  <a:srgbClr val="9BD97D"/>
                </a:solidFill>
                <a:latin typeface="NanumSquareRoundOTF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4500" y="2794000"/>
            <a:ext cx="36322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회귀모델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예측값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발생두수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초기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조건으로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설정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후</a:t>
            </a:r>
          </a:p>
          <a:p>
            <a:pPr lvl="0" algn="ctr">
              <a:lnSpc>
                <a:spcPct val="99600"/>
              </a:lnSpc>
            </a:pP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수식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확산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모델을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구성한다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ctr">
              <a:lnSpc>
                <a:spcPct val="99600"/>
              </a:lnSpc>
            </a:pPr>
            <a:endParaRPr lang="en-US" sz="1400" b="1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006600" y="3924300"/>
            <a:ext cx="3009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공통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: γ, τ (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회복일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잠복기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)</a:t>
            </a:r>
          </a:p>
          <a:p>
            <a:pPr lvl="0" algn="ctr">
              <a:lnSpc>
                <a:spcPct val="99600"/>
              </a:lnSpc>
            </a:pP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전체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개체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감염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두수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시간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t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의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감염두수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전파율은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시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.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군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.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구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/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날짜별로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다르게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설정하였다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7200" y="5562600"/>
            <a:ext cx="36068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군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구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별시간별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전파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경향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확산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범위</a:t>
            </a:r>
            <a:r>
              <a:rPr lang="en-US" sz="16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Regular"/>
              </a:rPr>
              <a:t>도출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69200" y="3086100"/>
            <a:ext cx="18288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지역별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감염률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비교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감염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최대치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지역별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위험도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지수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초기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확산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속도</a:t>
            </a:r>
          </a:p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시간에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감염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진행</a:t>
            </a:r>
            <a:r>
              <a:rPr lang="en-US" sz="1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상황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39000" y="5676900"/>
            <a:ext cx="23749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사용자에게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그래프로</a:t>
            </a:r>
            <a:r>
              <a:rPr lang="en-US" sz="17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1" i="0" u="none" strike="noStrike">
                <a:solidFill>
                  <a:srgbClr val="000000"/>
                </a:solidFill>
                <a:ea typeface="Pretendard Regular"/>
              </a:rPr>
              <a:t>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4508500"/>
            <a:ext cx="4762500" cy="195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4648200"/>
            <a:ext cx="1257300" cy="143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184400"/>
            <a:ext cx="1993900" cy="161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200" y="2184400"/>
            <a:ext cx="2374900" cy="1638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300" y="2184400"/>
            <a:ext cx="2209800" cy="1638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7900" y="2184400"/>
            <a:ext cx="1930400" cy="1638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500" y="2882900"/>
            <a:ext cx="393700" cy="393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900" y="2997200"/>
            <a:ext cx="114300" cy="1778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2882900"/>
            <a:ext cx="393700" cy="393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2997200"/>
            <a:ext cx="114300" cy="1778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0800" y="2882900"/>
            <a:ext cx="393700" cy="393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3200" y="2997200"/>
            <a:ext cx="114300" cy="177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7800" y="279400"/>
            <a:ext cx="876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8100" y="330200"/>
            <a:ext cx="2590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개발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목표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(2)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0800" y="1168400"/>
            <a:ext cx="73533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회귀분석을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통한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럼피스킨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발생두수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예측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alphaModFix amt="17000"/>
          </a:blip>
          <a:stretch>
            <a:fillRect/>
          </a:stretch>
        </p:blipFill>
        <p:spPr>
          <a:xfrm>
            <a:off x="7086600" y="4635500"/>
            <a:ext cx="977900" cy="1473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alphaModFix amt="40000"/>
          </a:blip>
          <a:stretch>
            <a:fillRect/>
          </a:stretch>
        </p:blipFill>
        <p:spPr>
          <a:xfrm>
            <a:off x="7188200" y="5181600"/>
            <a:ext cx="292100" cy="292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7213600" y="5219700"/>
            <a:ext cx="228600" cy="228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alphaModFix amt="60000"/>
          </a:blip>
          <a:stretch>
            <a:fillRect/>
          </a:stretch>
        </p:blipFill>
        <p:spPr>
          <a:xfrm>
            <a:off x="7188200" y="5499100"/>
            <a:ext cx="1905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7213600" y="5524500"/>
            <a:ext cx="139700" cy="139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51700" y="5257800"/>
            <a:ext cx="152400" cy="152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7429500" y="5384800"/>
            <a:ext cx="5080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6157"/>
              </a:lnSpc>
            </a:pPr>
            <a:r>
              <a:rPr lang="ko-KR" sz="600" b="0" i="0" u="none" strike="noStrike">
                <a:solidFill>
                  <a:srgbClr val="60B0B6"/>
                </a:solidFill>
                <a:ea typeface="Pretendard Regular"/>
              </a:rPr>
              <a:t>충청남도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42200" y="5473700"/>
            <a:ext cx="4826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223"/>
              </a:lnSpc>
            </a:pP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각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  </a:t>
            </a: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시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.</a:t>
            </a: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군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.</a:t>
            </a: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구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별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럼피스킨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131223"/>
              </a:lnSpc>
            </a:pP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발생두수</a:t>
            </a:r>
            <a:r>
              <a:rPr lang="en-US" sz="300" b="0" i="0" u="none" strike="noStrike">
                <a:solidFill>
                  <a:srgbClr val="4D4A45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00" b="0" i="0" u="none" strike="noStrike">
                <a:solidFill>
                  <a:srgbClr val="4D4A45">
                    <a:alpha val="70196"/>
                  </a:srgbClr>
                </a:solidFill>
                <a:ea typeface="Pretendard Regular"/>
              </a:rPr>
              <a:t>예측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10800000">
            <a:off x="6972300" y="5308600"/>
            <a:ext cx="190500" cy="1270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6769100" y="5207000"/>
            <a:ext cx="381000" cy="6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223"/>
              </a:lnSpc>
            </a:pPr>
            <a:r>
              <a:rPr lang="en-US" sz="400" b="0" i="0" u="none" strike="noStrike">
                <a:solidFill>
                  <a:srgbClr val="4D4A45"/>
                </a:solidFill>
                <a:latin typeface="Pretendard Regular"/>
              </a:rPr>
              <a:t>7</a:t>
            </a:r>
            <a:r>
              <a:rPr lang="ko-KR" sz="400" b="0" i="0" u="none" strike="noStrike">
                <a:solidFill>
                  <a:srgbClr val="4D4A45"/>
                </a:solidFill>
                <a:ea typeface="Pretendard Regular"/>
              </a:rPr>
              <a:t>월</a:t>
            </a:r>
            <a:r>
              <a:rPr lang="en-US" sz="400" b="0" i="0" u="none" strike="noStrike">
                <a:solidFill>
                  <a:srgbClr val="4D4A45"/>
                </a:solidFill>
                <a:latin typeface="Pretendard Regular"/>
              </a:rPr>
              <a:t> </a:t>
            </a:r>
            <a:r>
              <a:rPr lang="ko-KR" sz="400" b="0" i="0" u="none" strike="noStrike">
                <a:solidFill>
                  <a:srgbClr val="4D4A45"/>
                </a:solidFill>
                <a:ea typeface="Pretendard Regular"/>
              </a:rPr>
              <a:t>서산시</a:t>
            </a:r>
            <a:r>
              <a:rPr lang="en-US" sz="400" b="0" i="0" u="none" strike="noStrike">
                <a:solidFill>
                  <a:srgbClr val="4D4A45"/>
                </a:solidFill>
                <a:latin typeface="Pretendard Regular"/>
              </a:rPr>
              <a:t>: 45</a:t>
            </a:r>
            <a:r>
              <a:rPr lang="ko-KR" sz="400" b="0" i="0" u="none" strike="noStrike">
                <a:solidFill>
                  <a:srgbClr val="4D4A45"/>
                </a:solidFill>
                <a:ea typeface="Pretendard Regular"/>
              </a:rPr>
              <a:t>마리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8000" y="5791200"/>
            <a:ext cx="406400" cy="6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223"/>
              </a:lnSpc>
            </a:pPr>
            <a:r>
              <a:rPr lang="en-US" sz="400" b="0" i="0" u="none" strike="noStrike">
                <a:solidFill>
                  <a:srgbClr val="4D4A45"/>
                </a:solidFill>
                <a:latin typeface="Pretendard Regular"/>
              </a:rPr>
              <a:t>7</a:t>
            </a:r>
            <a:r>
              <a:rPr lang="ko-KR" sz="400" b="0" i="0" u="none" strike="noStrike">
                <a:solidFill>
                  <a:srgbClr val="4D4A45"/>
                </a:solidFill>
                <a:ea typeface="Pretendard Regular"/>
              </a:rPr>
              <a:t>월</a:t>
            </a:r>
            <a:r>
              <a:rPr lang="en-US" sz="400" b="0" i="0" u="none" strike="noStrike">
                <a:solidFill>
                  <a:srgbClr val="4D4A45"/>
                </a:solidFill>
                <a:latin typeface="Pretendard Regular"/>
              </a:rPr>
              <a:t> </a:t>
            </a:r>
            <a:r>
              <a:rPr lang="ko-KR" sz="400" b="0" i="0" u="none" strike="noStrike">
                <a:solidFill>
                  <a:srgbClr val="4D4A45"/>
                </a:solidFill>
                <a:ea typeface="Pretendard Regular"/>
              </a:rPr>
              <a:t>당진시</a:t>
            </a:r>
            <a:r>
              <a:rPr lang="en-US" sz="400" b="0" i="0" u="none" strike="noStrike">
                <a:solidFill>
                  <a:srgbClr val="4D4A45"/>
                </a:solidFill>
                <a:latin typeface="Pretendard Regular"/>
              </a:rPr>
              <a:t>: 23</a:t>
            </a:r>
            <a:r>
              <a:rPr lang="ko-KR" sz="400" b="0" i="0" u="none" strike="noStrike">
                <a:solidFill>
                  <a:srgbClr val="4D4A45"/>
                </a:solidFill>
                <a:ea typeface="Pretendard Regular"/>
              </a:rPr>
              <a:t>마리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48500" y="5600700"/>
            <a:ext cx="190500" cy="127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8039100" y="2717800"/>
            <a:ext cx="2235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충청남도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시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군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구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별</a:t>
            </a:r>
          </a:p>
          <a:p>
            <a:pPr lvl="0" algn="ctr">
              <a:lnSpc>
                <a:spcPct val="99600"/>
              </a:lnSpc>
            </a:pP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럼피스킨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발생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두수</a:t>
            </a:r>
            <a:r>
              <a:rPr lang="en-US" sz="16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1" i="0" u="none" strike="noStrike">
                <a:solidFill>
                  <a:srgbClr val="000000"/>
                </a:solidFill>
                <a:ea typeface="Pretendard Medium"/>
              </a:rPr>
              <a:t>예측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81700" y="2197100"/>
            <a:ext cx="1435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endParaRPr/>
          </a:p>
          <a:p>
            <a:pPr lvl="0" algn="ctr">
              <a:lnSpc>
                <a:spcPct val="996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Pretendard Medium"/>
              </a:rPr>
              <a:t>"</a:t>
            </a:r>
            <a:r>
              <a:rPr lang="ko-KR" sz="1400" b="1" i="0" u="none" strike="noStrike">
                <a:solidFill>
                  <a:srgbClr val="000000"/>
                </a:solidFill>
                <a:ea typeface="Pretendard Medium"/>
              </a:rPr>
              <a:t>다중회귀</a:t>
            </a:r>
            <a:r>
              <a:rPr lang="en-US" sz="1400" b="1" i="0" u="none" strike="noStrike">
                <a:solidFill>
                  <a:srgbClr val="000000"/>
                </a:solidFill>
                <a:latin typeface="Pretendard Medium"/>
              </a:rPr>
              <a:t>" </a:t>
            </a:r>
          </a:p>
          <a:p>
            <a:pPr lvl="0" algn="ctr">
              <a:lnSpc>
                <a:spcPct val="99600"/>
              </a:lnSpc>
            </a:pPr>
            <a:r>
              <a:rPr lang="ko-KR" sz="1400" b="1" i="0" u="none" strike="noStrike">
                <a:solidFill>
                  <a:srgbClr val="000000"/>
                </a:solidFill>
                <a:ea typeface="Pretendard Medium"/>
              </a:rPr>
              <a:t>모델을</a:t>
            </a:r>
            <a:r>
              <a:rPr lang="en-US" sz="14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Medium"/>
              </a:rPr>
              <a:t>이용한</a:t>
            </a:r>
            <a:r>
              <a:rPr lang="en-US" sz="14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Medium"/>
              </a:rPr>
              <a:t>예측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82700" y="2501900"/>
            <a:ext cx="20447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Medium"/>
              </a:rPr>
              <a:t>환경</a:t>
            </a:r>
            <a:r>
              <a:rPr lang="en-US" sz="1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300" b="1" i="0" u="none" strike="noStrike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13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농가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밀집도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축사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분포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사육두수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)</a:t>
            </a:r>
          </a:p>
          <a:p>
            <a:pPr lvl="0" algn="ctr">
              <a:lnSpc>
                <a:spcPct val="99600"/>
              </a:lnSpc>
            </a:pPr>
            <a:endParaRPr lang="en-US" sz="1000" b="0" i="0" u="none" strike="noStrike">
              <a:solidFill>
                <a:srgbClr val="595959"/>
              </a:solidFill>
              <a:latin typeface="Pretendard Regular"/>
            </a:endParaRPr>
          </a:p>
          <a:p>
            <a:pPr lvl="0" algn="ctr">
              <a:lnSpc>
                <a:spcPct val="99600"/>
              </a:lnSpc>
            </a:pPr>
            <a:endParaRPr lang="en-US" sz="1000" b="0" i="0" u="none" strike="noStrike">
              <a:solidFill>
                <a:srgbClr val="595959"/>
              </a:solidFill>
              <a:latin typeface="Pretendard Regular"/>
            </a:endParaRPr>
          </a:p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Medium"/>
              </a:rPr>
              <a:t>기후</a:t>
            </a:r>
            <a:r>
              <a:rPr lang="en-US" sz="1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300" b="1" i="0" u="none" strike="noStrike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13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기온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습도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강수량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모기지수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10000" y="2413000"/>
            <a:ext cx="14478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endParaRPr/>
          </a:p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피처</a:t>
            </a:r>
            <a:r>
              <a:rPr lang="en-US" sz="1300" b="1" i="0" u="none" strike="noStrike">
                <a:solidFill>
                  <a:srgbClr val="000000"/>
                </a:solidFill>
                <a:latin typeface="Pretendard Regular"/>
              </a:rPr>
              <a:t>(X)</a:t>
            </a:r>
          </a:p>
          <a:p>
            <a:pPr lvl="0" algn="ctr">
              <a:lnSpc>
                <a:spcPct val="99600"/>
              </a:lnSpc>
            </a:pPr>
            <a:r>
              <a:rPr lang="ko-KR" sz="1100" b="0" i="0" u="none" strike="noStrike">
                <a:solidFill>
                  <a:srgbClr val="595959"/>
                </a:solidFill>
                <a:ea typeface="Pretendard Regular"/>
              </a:rPr>
              <a:t>환경</a:t>
            </a:r>
            <a:r>
              <a:rPr lang="en-US" sz="11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595959"/>
                </a:solidFill>
                <a:ea typeface="Pretendard Regular"/>
              </a:rPr>
              <a:t>데이터</a:t>
            </a:r>
            <a:r>
              <a:rPr lang="en-US" sz="1100" b="0" i="0" u="none" strike="noStrike">
                <a:solidFill>
                  <a:srgbClr val="595959"/>
                </a:solidFill>
                <a:latin typeface="Pretendard Regular"/>
              </a:rPr>
              <a:t> / </a:t>
            </a:r>
            <a:r>
              <a:rPr lang="ko-KR" sz="1100" b="0" i="0" u="none" strike="noStrike">
                <a:solidFill>
                  <a:srgbClr val="595959"/>
                </a:solidFill>
                <a:ea typeface="Pretendard Regular"/>
              </a:rPr>
              <a:t>기후</a:t>
            </a:r>
            <a:r>
              <a:rPr lang="en-US" sz="11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595959"/>
                </a:solidFill>
                <a:ea typeface="Pretendard Regular"/>
              </a:rPr>
              <a:t>데이터</a:t>
            </a:r>
          </a:p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타겟</a:t>
            </a:r>
            <a:r>
              <a:rPr lang="en-US" sz="1300" b="1" i="0" u="none" strike="noStrike">
                <a:solidFill>
                  <a:srgbClr val="000000"/>
                </a:solidFill>
                <a:latin typeface="Pretendard Regular"/>
              </a:rPr>
              <a:t>(Y)</a:t>
            </a:r>
          </a:p>
          <a:p>
            <a:pPr lvl="0" algn="ctr">
              <a:lnSpc>
                <a:spcPct val="99600"/>
              </a:lnSpc>
            </a:pPr>
            <a:r>
              <a:rPr lang="ko-KR" sz="1100" b="0" i="0" u="none" strike="noStrike">
                <a:solidFill>
                  <a:srgbClr val="595959"/>
                </a:solidFill>
                <a:ea typeface="Pretendard Regular"/>
              </a:rPr>
              <a:t>럼피스킨</a:t>
            </a:r>
            <a:r>
              <a:rPr lang="en-US" sz="11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1100" b="0" i="0" u="none" strike="noStrike">
                <a:solidFill>
                  <a:srgbClr val="595959"/>
                </a:solidFill>
                <a:ea typeface="Pretendard Regular"/>
              </a:rPr>
              <a:t>발생두수</a:t>
            </a:r>
            <a:r>
              <a:rPr lang="en-US" sz="11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65600" y="2387600"/>
            <a:ext cx="6858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500" b="1" i="0" u="none" strike="noStrike">
                <a:solidFill>
                  <a:srgbClr val="000000"/>
                </a:solidFill>
                <a:ea typeface="Pretendard Medium"/>
              </a:rPr>
              <a:t>머신러닝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68900" y="3200400"/>
            <a:ext cx="3009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럼피스킨의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주요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매개체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모기는</a:t>
            </a:r>
          </a:p>
          <a:p>
            <a:pPr lvl="0" algn="ctr">
              <a:lnSpc>
                <a:spcPct val="99600"/>
              </a:lnSpc>
            </a:pP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기후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요인과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비선형적인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관계를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가지므로</a:t>
            </a:r>
          </a:p>
          <a:p>
            <a:pPr lvl="0" algn="ctr">
              <a:lnSpc>
                <a:spcPct val="99600"/>
              </a:lnSpc>
            </a:pP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이를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반영하기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위해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다중회귀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모델을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이용한다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0" y="2438400"/>
            <a:ext cx="1536700" cy="222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438400"/>
            <a:ext cx="1536700" cy="2222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5156200"/>
            <a:ext cx="2070100" cy="158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100" y="5156200"/>
            <a:ext cx="2527300" cy="158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5156200"/>
            <a:ext cx="2146300" cy="158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5156200"/>
            <a:ext cx="1879600" cy="15875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9300" y="5727700"/>
            <a:ext cx="444500" cy="44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7100" y="5854700"/>
            <a:ext cx="127000" cy="2032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6700" y="5727700"/>
            <a:ext cx="444500" cy="44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1800" y="5854700"/>
            <a:ext cx="127000" cy="2032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300" y="5727700"/>
            <a:ext cx="444500" cy="444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5854700"/>
            <a:ext cx="127000" cy="20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7500" y="3810000"/>
            <a:ext cx="495300" cy="444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500" y="3517900"/>
            <a:ext cx="749300" cy="76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1300" y="4152900"/>
            <a:ext cx="5080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5400000">
            <a:off x="5295900" y="3911600"/>
            <a:ext cx="330200" cy="76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6000" y="3340100"/>
            <a:ext cx="1574800" cy="393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3700" y="3073400"/>
            <a:ext cx="266700" cy="266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5448300" y="3898900"/>
            <a:ext cx="330200" cy="76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87700" y="3759200"/>
            <a:ext cx="546100" cy="495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3517900"/>
            <a:ext cx="749300" cy="76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52900" y="2235200"/>
            <a:ext cx="3175000" cy="673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4546600" y="2806700"/>
            <a:ext cx="863600" cy="635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77800" y="279400"/>
            <a:ext cx="876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8100" y="330200"/>
            <a:ext cx="2603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개발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목표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(3)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0800" y="1168400"/>
            <a:ext cx="73533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럼피스킨병에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적합한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생성형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AI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개발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텍스트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생성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/ </a:t>
            </a:r>
            <a:r>
              <a:rPr lang="ko-KR" sz="2300" b="1" i="0" u="none" strike="noStrike">
                <a:solidFill>
                  <a:srgbClr val="000000"/>
                </a:solidFill>
                <a:ea typeface="Pretendard Medium"/>
              </a:rPr>
              <a:t>번역</a:t>
            </a:r>
            <a:r>
              <a:rPr lang="en-US" sz="2300" b="1" i="0" u="none" strike="noStrike">
                <a:solidFill>
                  <a:srgbClr val="000000"/>
                </a:solidFill>
                <a:latin typeface="Pretendard Medium"/>
              </a:rPr>
              <a:t> / RAG)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300" y="5613400"/>
            <a:ext cx="23749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사용자가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질문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입력시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,</a:t>
            </a:r>
          </a:p>
          <a:p>
            <a:pPr lvl="0" algn="ctr">
              <a:lnSpc>
                <a:spcPct val="99600"/>
              </a:lnSpc>
            </a:pP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질문과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유사한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문서를</a:t>
            </a:r>
          </a:p>
          <a:p>
            <a:pPr lvl="0" algn="ctr">
              <a:lnSpc>
                <a:spcPct val="99600"/>
              </a:lnSpc>
            </a:pP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검색으로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추출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응답</a:t>
            </a:r>
            <a:r>
              <a:rPr lang="en-US" sz="14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1" i="0" u="none" strike="noStrike">
                <a:solidFill>
                  <a:srgbClr val="000000"/>
                </a:solidFill>
                <a:ea typeface="Pretendard Regular"/>
              </a:rPr>
              <a:t>생성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6100" y="5918200"/>
            <a:ext cx="1231900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문장</a:t>
            </a:r>
            <a:r>
              <a:rPr lang="en-US" sz="1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임베딩</a:t>
            </a:r>
            <a:r>
              <a:rPr lang="en-US" sz="1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모델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27700" y="5740400"/>
            <a:ext cx="19939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13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3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-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럼피스킨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긴급행동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지침서</a:t>
            </a:r>
          </a:p>
          <a:p>
            <a:pPr lvl="0" algn="ctr">
              <a:lnSpc>
                <a:spcPct val="99600"/>
              </a:lnSpc>
            </a:pP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-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럼피스킨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발생농장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살처분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개선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방안</a:t>
            </a:r>
          </a:p>
          <a:p>
            <a:pPr lvl="0" algn="ctr">
              <a:lnSpc>
                <a:spcPct val="99600"/>
              </a:lnSpc>
            </a:pP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-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럼피스킨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매개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흡혈곤충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방제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요령</a:t>
            </a:r>
          </a:p>
          <a:p>
            <a:pPr lvl="0" algn="ctr">
              <a:lnSpc>
                <a:spcPct val="99600"/>
              </a:lnSpc>
            </a:pP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-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럼피스킨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백신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접종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요령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외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 pdf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문서</a:t>
            </a: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38300" y="5041900"/>
            <a:ext cx="14986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endParaRPr/>
          </a:p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토크나이저</a:t>
            </a:r>
          </a:p>
          <a:p>
            <a:pPr lvl="0" algn="ctr">
              <a:lnSpc>
                <a:spcPct val="99600"/>
              </a:lnSpc>
            </a:pPr>
            <a:r>
              <a:rPr lang="en-US" sz="1000" b="0" i="0" u="none" strike="noStrike">
                <a:solidFill>
                  <a:srgbClr val="595959"/>
                </a:solidFill>
                <a:latin typeface="Pretendard Regular"/>
              </a:rPr>
              <a:t>skt/kogpt-2-base-v</a:t>
            </a:r>
            <a:r>
              <a:rPr lang="ko-KR" sz="1000" b="0" i="0" u="none" strike="noStrike">
                <a:solidFill>
                  <a:srgbClr val="595959"/>
                </a:solidFill>
                <a:ea typeface="Pretendard Regular"/>
              </a:rPr>
              <a:t>사용</a:t>
            </a:r>
          </a:p>
          <a:p>
            <a:pPr lvl="0" algn="ctr">
              <a:lnSpc>
                <a:spcPct val="99600"/>
              </a:lnSpc>
            </a:pPr>
            <a:endParaRPr lang="ko-KR" sz="1000" b="0" i="0" u="none" strike="noStrike">
              <a:solidFill>
                <a:srgbClr val="595959"/>
              </a:solidFill>
              <a:ea typeface="Pretendard Regula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1400" y="6197600"/>
            <a:ext cx="2933700" cy="16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jhgan/ko-sroberta-multitask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사용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75400" y="5257800"/>
            <a:ext cx="5969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300" b="1" i="0" u="none" strike="noStrike">
                <a:solidFill>
                  <a:srgbClr val="000000"/>
                </a:solidFill>
                <a:ea typeface="Pretendard Regular"/>
              </a:rPr>
              <a:t>벡터</a:t>
            </a:r>
            <a:r>
              <a:rPr lang="en-US" sz="1300" b="1" i="0" u="none" strike="noStrike">
                <a:solidFill>
                  <a:srgbClr val="000000"/>
                </a:solidFill>
                <a:latin typeface="Pretendard Regular"/>
              </a:rPr>
              <a:t> DB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19700" y="5461000"/>
            <a:ext cx="2933700" cy="16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00" b="0" i="0" u="none" strike="noStrike">
                <a:solidFill>
                  <a:srgbClr val="595959"/>
                </a:solidFill>
                <a:latin typeface="Pretendard Regular"/>
              </a:rPr>
              <a:t>chroma </a:t>
            </a:r>
            <a:r>
              <a:rPr lang="ko-KR" sz="900" b="0" i="0" u="none" strike="noStrike">
                <a:solidFill>
                  <a:srgbClr val="595959"/>
                </a:solidFill>
                <a:ea typeface="Pretendard Regular"/>
              </a:rPr>
              <a:t>이용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60800" y="5321300"/>
            <a:ext cx="1447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Pretendard Regular"/>
              </a:rPr>
              <a:t>Model(pre-trained)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65600" y="5816600"/>
            <a:ext cx="8763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100" b="0" i="0" u="none" strike="noStrike">
                <a:solidFill>
                  <a:srgbClr val="595959"/>
                </a:solidFill>
                <a:latin typeface="Pretendard Regular"/>
              </a:rPr>
              <a:t>GPT-4 Turbo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20000" y="2781300"/>
            <a:ext cx="482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600" b="1" i="0" u="none" strike="noStrike">
                <a:solidFill>
                  <a:srgbClr val="595959"/>
                </a:solidFill>
                <a:latin typeface="Pretendard Regular"/>
              </a:rPr>
              <a:t>User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91300" y="3340100"/>
            <a:ext cx="584200" cy="19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Pretendard Regular"/>
              </a:rPr>
              <a:t>Query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83200" y="2095500"/>
            <a:ext cx="9525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100" b="1" i="0" u="none" strike="noStrike">
                <a:solidFill>
                  <a:srgbClr val="000000"/>
                </a:solidFill>
                <a:latin typeface="Pretendard Regular"/>
              </a:rPr>
              <a:t>Response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45100" y="4610100"/>
            <a:ext cx="749300" cy="13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800" b="0" i="0" u="none" strike="noStrike">
                <a:solidFill>
                  <a:srgbClr val="000000"/>
                </a:solidFill>
                <a:ea typeface="Pretendard Regular"/>
              </a:rPr>
              <a:t>관련</a:t>
            </a:r>
            <a:r>
              <a:rPr lang="en-US" sz="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800" b="0" i="0" u="none" strike="noStrike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8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8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13300" y="3390900"/>
            <a:ext cx="16002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Pretendard Regular"/>
              </a:rPr>
              <a:t>Retrieval Model</a:t>
            </a:r>
          </a:p>
          <a:p>
            <a:pPr lvl="0" algn="ctr">
              <a:lnSpc>
                <a:spcPct val="99600"/>
              </a:lnSpc>
            </a:pPr>
            <a:r>
              <a:rPr lang="en-US" sz="800" b="0" i="0" u="none" strike="noStrike">
                <a:solidFill>
                  <a:srgbClr val="595959"/>
                </a:solidFill>
                <a:latin typeface="Pretendard Regular"/>
              </a:rPr>
              <a:t>(jhgan/ko-sroberta-multitask)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29000" y="2768600"/>
            <a:ext cx="6223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600" b="1" i="0" u="none" strike="noStrike">
                <a:solidFill>
                  <a:srgbClr val="595959"/>
                </a:solidFill>
                <a:latin typeface="Pretendard Regular"/>
              </a:rPr>
              <a:t>Model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54600" y="2692400"/>
            <a:ext cx="952500" cy="19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000" b="1" i="0" u="none" strike="noStrike">
                <a:solidFill>
                  <a:srgbClr val="595959"/>
                </a:solidFill>
                <a:latin typeface="Pretendard Regular"/>
              </a:rPr>
              <a:t>Langchain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7800" y="279400"/>
            <a:ext cx="876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08100" y="330200"/>
            <a:ext cx="1828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기대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효과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787900"/>
            <a:ext cx="4673600" cy="1993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279900" y="4914900"/>
            <a:ext cx="2628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정보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접근성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향상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29100" y="5575300"/>
            <a:ext cx="32766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생성형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AI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를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통해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축사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소독법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, </a:t>
            </a:r>
          </a:p>
          <a:p>
            <a:pPr lvl="0" algn="ctr">
              <a:lnSpc>
                <a:spcPct val="116199"/>
              </a:lnSpc>
            </a:pP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예방법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등의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정보를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쉽게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확인할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수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있어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농가의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정보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접근성이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높아진다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1574800"/>
            <a:ext cx="4064000" cy="1993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84300" y="1765300"/>
            <a:ext cx="35179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고위험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지역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선별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및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대응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0500" y="2489200"/>
            <a:ext cx="3708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발생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두수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예측을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통해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감염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가능성이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높은</a:t>
            </a:r>
          </a:p>
          <a:p>
            <a:pPr lvl="0" algn="ctr">
              <a:lnSpc>
                <a:spcPct val="116199"/>
              </a:lnSpc>
            </a:pP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지역을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선별하여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선제적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방역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대응이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가능하다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549400"/>
            <a:ext cx="4064000" cy="1993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6654800" y="1765300"/>
            <a:ext cx="3175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지역별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감염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추이</a:t>
            </a:r>
            <a:r>
              <a:rPr lang="en-US" sz="2800" b="0" i="0" u="none" strike="noStrike" spc="-200">
                <a:solidFill>
                  <a:srgbClr val="515050"/>
                </a:solidFill>
                <a:latin typeface="Pretendard Bold"/>
              </a:rPr>
              <a:t> </a:t>
            </a:r>
            <a:r>
              <a:rPr lang="ko-KR" sz="2800" b="0" i="0" u="none" strike="noStrike" spc="-200">
                <a:solidFill>
                  <a:srgbClr val="515050"/>
                </a:solidFill>
                <a:ea typeface="Pretendard Bold"/>
              </a:rPr>
              <a:t>파악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4800" y="2463800"/>
            <a:ext cx="3289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전파율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·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속도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등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지역별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전파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경향을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시각화하여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확산이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빠른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지역을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조기에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인지하고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대응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시점을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앞당길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수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1500" b="0" i="0" u="none" strike="noStrike" spc="-100">
                <a:solidFill>
                  <a:srgbClr val="9E9E9E"/>
                </a:solidFill>
                <a:ea typeface="Pretendard Medium"/>
              </a:rPr>
              <a:t>있다</a:t>
            </a:r>
            <a:r>
              <a:rPr lang="en-US" sz="1500" b="0" i="0" u="none" strike="noStrike" spc="-100">
                <a:solidFill>
                  <a:srgbClr val="9E9E9E"/>
                </a:solidFill>
                <a:latin typeface="Pretendard Medium"/>
              </a:rPr>
              <a:t>.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5003800" y="3098800"/>
            <a:ext cx="1511300" cy="1511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597400" y="3556000"/>
            <a:ext cx="23368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0429"/>
              </a:lnSpc>
            </a:pPr>
            <a:r>
              <a:rPr lang="ko-KR" sz="3300" b="0" i="0" u="none" strike="noStrike" spc="-300">
                <a:solidFill>
                  <a:srgbClr val="515050"/>
                </a:solidFill>
                <a:ea typeface="Pretendard SemiBold"/>
              </a:rPr>
              <a:t>기대효과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400" cy="755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143000"/>
            <a:ext cx="8712200" cy="1828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5435600"/>
            <a:ext cx="8712200" cy="1701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3276600"/>
            <a:ext cx="8712200" cy="1828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7800" y="279400"/>
            <a:ext cx="876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100" y="330200"/>
            <a:ext cx="1828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향후</a:t>
            </a:r>
            <a:r>
              <a:rPr lang="en-US" sz="3700" b="0" i="0" u="none" strike="noStrike">
                <a:solidFill>
                  <a:srgbClr val="568A35"/>
                </a:solidFill>
                <a:latin typeface="Pretendard Bold"/>
              </a:rPr>
              <a:t> </a:t>
            </a:r>
            <a:r>
              <a:rPr lang="ko-KR" sz="3700" b="0" i="0" u="none" strike="noStrike">
                <a:solidFill>
                  <a:srgbClr val="568A35"/>
                </a:solidFill>
                <a:ea typeface="Pretendard Bold"/>
              </a:rPr>
              <a:t>계획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400" y="5588000"/>
            <a:ext cx="2438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연동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체계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4200" y="6159500"/>
            <a:ext cx="6400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기상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모기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지수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축산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현황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등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외부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실시간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데이터를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연동하여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예측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정확도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신뢰도를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지속적으로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개선한다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4200" y="1917700"/>
            <a:ext cx="6959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전염병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예측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방역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관련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전문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데이터를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Fine-Tuning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하여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보다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정확하고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신뢰도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높은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정보를</a:t>
            </a:r>
          </a:p>
          <a:p>
            <a:pPr lvl="0" algn="l">
              <a:lnSpc>
                <a:spcPct val="99600"/>
              </a:lnSpc>
            </a:pP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제공할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있도록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한다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4200" y="4000500"/>
            <a:ext cx="7073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시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군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구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단위에서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나아가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읍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면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동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수준으로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감염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예측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정밀도를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높여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실제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농가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방역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의사결정에</a:t>
            </a:r>
          </a:p>
          <a:p>
            <a:pPr lvl="0" algn="l">
              <a:lnSpc>
                <a:spcPct val="99600"/>
              </a:lnSpc>
            </a:pP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직접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활용이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가능하도록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500" b="0" i="0" u="none" strike="noStrike">
                <a:solidFill>
                  <a:srgbClr val="787878"/>
                </a:solidFill>
                <a:ea typeface="Pretendard Regular"/>
              </a:rPr>
              <a:t>개선한다</a:t>
            </a:r>
            <a:r>
              <a:rPr lang="en-US" sz="15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7500" y="3467100"/>
            <a:ext cx="3136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읍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면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.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동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단위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세분화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정밀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예측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4800" y="1320800"/>
            <a:ext cx="34925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LLAMA 3.1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챗봇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강화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8800" y="2501900"/>
            <a:ext cx="95758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4580"/>
              </a:lnSpc>
            </a:pPr>
            <a:r>
              <a:rPr lang="ko-KR" sz="7400" b="1" i="0" u="none" strike="noStrike" spc="-200">
                <a:solidFill>
                  <a:srgbClr val="7DB249"/>
                </a:solidFill>
                <a:ea typeface="Noto Sans CJK KR Regular"/>
              </a:rPr>
              <a:t>감사합니다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60900" y="5397500"/>
            <a:ext cx="13716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0226"/>
              </a:lnSpc>
            </a:pPr>
            <a:r>
              <a:rPr lang="ko-KR" sz="1700" b="1" i="0" u="none" strike="noStrike">
                <a:solidFill>
                  <a:srgbClr val="000000"/>
                </a:solidFill>
                <a:ea typeface="Caviar Dreams"/>
              </a:rPr>
              <a:t>배윤주</a:t>
            </a:r>
          </a:p>
          <a:p>
            <a:pPr lvl="0" algn="ctr">
              <a:lnSpc>
                <a:spcPct val="145416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viar Dreams"/>
              </a:rPr>
              <a:t>2025.04.07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630</Words>
  <Application>Microsoft Office PowerPoint</Application>
  <PresentationFormat>사용자 지정</PresentationFormat>
  <Paragraphs>146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Pretendard Bold</vt:lpstr>
      <vt:lpstr>Pretendard Medium</vt:lpstr>
      <vt:lpstr>Caviar Dreams</vt:lpstr>
      <vt:lpstr>Arial</vt:lpstr>
      <vt:lpstr>Pretendard Regular</vt:lpstr>
      <vt:lpstr>Calibri</vt:lpstr>
      <vt:lpstr>NanumSquareRoundOTF Bold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seoungchan bae</dc:creator>
  <cp:lastModifiedBy>bae seoungchan</cp:lastModifiedBy>
  <cp:revision>4</cp:revision>
  <dcterms:created xsi:type="dcterms:W3CDTF">2006-08-16T00:00:00Z</dcterms:created>
  <dcterms:modified xsi:type="dcterms:W3CDTF">2025-07-29T15:13:16Z</dcterms:modified>
</cp:coreProperties>
</file>